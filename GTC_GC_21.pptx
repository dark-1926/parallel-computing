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tags/tag4.xml" ContentType="application/vnd.openxmlformats-officedocument.presentationml.tags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8.xml" ContentType="application/vnd.openxmlformats-officedocument.presentationml.tags+xml"/>
  <Override PartName="/ppt/notesSlides/notesSlide14.xml" ContentType="application/vnd.openxmlformats-officedocument.presentationml.notesSlide+xml"/>
  <Override PartName="/ppt/tags/tag9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7" r:id="rId1"/>
  </p:sldMasterIdLst>
  <p:notesMasterIdLst>
    <p:notesMasterId r:id="rId55"/>
  </p:notesMasterIdLst>
  <p:handoutMasterIdLst>
    <p:handoutMasterId r:id="rId56"/>
  </p:handoutMasterIdLst>
  <p:sldIdLst>
    <p:sldId id="580" r:id="rId2"/>
    <p:sldId id="598" r:id="rId3"/>
    <p:sldId id="600" r:id="rId4"/>
    <p:sldId id="624" r:id="rId5"/>
    <p:sldId id="579" r:id="rId6"/>
    <p:sldId id="625" r:id="rId7"/>
    <p:sldId id="642" r:id="rId8"/>
    <p:sldId id="687" r:id="rId9"/>
    <p:sldId id="688" r:id="rId10"/>
    <p:sldId id="612" r:id="rId11"/>
    <p:sldId id="641" r:id="rId12"/>
    <p:sldId id="671" r:id="rId13"/>
    <p:sldId id="673" r:id="rId14"/>
    <p:sldId id="674" r:id="rId15"/>
    <p:sldId id="675" r:id="rId16"/>
    <p:sldId id="676" r:id="rId17"/>
    <p:sldId id="678" r:id="rId18"/>
    <p:sldId id="679" r:id="rId19"/>
    <p:sldId id="631" r:id="rId20"/>
    <p:sldId id="634" r:id="rId21"/>
    <p:sldId id="635" r:id="rId22"/>
    <p:sldId id="636" r:id="rId23"/>
    <p:sldId id="639" r:id="rId24"/>
    <p:sldId id="640" r:id="rId25"/>
    <p:sldId id="643" r:id="rId26"/>
    <p:sldId id="680" r:id="rId27"/>
    <p:sldId id="644" r:id="rId28"/>
    <p:sldId id="646" r:id="rId29"/>
    <p:sldId id="647" r:id="rId30"/>
    <p:sldId id="668" r:id="rId31"/>
    <p:sldId id="652" r:id="rId32"/>
    <p:sldId id="653" r:id="rId33"/>
    <p:sldId id="649" r:id="rId34"/>
    <p:sldId id="669" r:id="rId35"/>
    <p:sldId id="670" r:id="rId36"/>
    <p:sldId id="690" r:id="rId37"/>
    <p:sldId id="655" r:id="rId38"/>
    <p:sldId id="622" r:id="rId39"/>
    <p:sldId id="583" r:id="rId40"/>
    <p:sldId id="586" r:id="rId41"/>
    <p:sldId id="657" r:id="rId42"/>
    <p:sldId id="683" r:id="rId43"/>
    <p:sldId id="684" r:id="rId44"/>
    <p:sldId id="664" r:id="rId45"/>
    <p:sldId id="661" r:id="rId46"/>
    <p:sldId id="672" r:id="rId47"/>
    <p:sldId id="658" r:id="rId48"/>
    <p:sldId id="660" r:id="rId49"/>
    <p:sldId id="662" r:id="rId50"/>
    <p:sldId id="686" r:id="rId51"/>
    <p:sldId id="685" r:id="rId52"/>
    <p:sldId id="665" r:id="rId53"/>
    <p:sldId id="581" r:id="rId54"/>
  </p:sldIdLst>
  <p:sldSz cx="9144000" cy="6858000" type="screen4x3"/>
  <p:notesSz cx="6946900" cy="92075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buChar char="n"/>
      <a:defRPr sz="28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buChar char="n"/>
      <a:defRPr sz="28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buChar char="n"/>
      <a:defRPr sz="28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buChar char="n"/>
      <a:defRPr sz="28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20000"/>
      </a:spcBef>
      <a:spcAft>
        <a:spcPct val="0"/>
      </a:spcAft>
      <a:buClr>
        <a:schemeClr val="hlink"/>
      </a:buClr>
      <a:buSzPct val="55000"/>
      <a:buFont typeface="Wingdings" pitchFamily="2" charset="2"/>
      <a:buChar char="n"/>
      <a:defRPr sz="28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7"/>
    <a:srgbClr val="FFD579"/>
    <a:srgbClr val="00A8E8"/>
    <a:srgbClr val="DDDDDD"/>
    <a:srgbClr val="C0C0C0"/>
    <a:srgbClr val="B2B2B2"/>
    <a:srgbClr val="808080"/>
    <a:srgbClr val="777777"/>
    <a:srgbClr val="969696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2" autoAdjust="0"/>
    <p:restoredTop sz="95463" autoAdjust="0"/>
  </p:normalViewPr>
  <p:slideViewPr>
    <p:cSldViewPr snapToGrid="0">
      <p:cViewPr varScale="1">
        <p:scale>
          <a:sx n="93" d="100"/>
          <a:sy n="93" d="100"/>
        </p:scale>
        <p:origin x="802" y="3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defTabSz="922338">
              <a:defRPr sz="1200">
                <a:latin typeface="Tahom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0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Tahom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0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471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defTabSz="922338">
              <a:defRPr sz="1200">
                <a:latin typeface="Tahom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00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7471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Tahoma" pitchFamily="34" charset="0"/>
              </a:defRPr>
            </a:lvl1pPr>
          </a:lstStyle>
          <a:p>
            <a:fld id="{DD978F5E-19E5-42A7-A065-E4EA71ECC80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3221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defTabSz="922338">
              <a:defRPr sz="1200">
                <a:latin typeface="Tahom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Tahom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49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1575" y="690563"/>
            <a:ext cx="4603750" cy="34528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373563"/>
            <a:ext cx="5095875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471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defTabSz="922338">
              <a:defRPr sz="1200">
                <a:latin typeface="Tahoma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747125"/>
            <a:ext cx="30099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Tahoma" pitchFamily="34" charset="0"/>
              </a:defRPr>
            </a:lvl1pPr>
          </a:lstStyle>
          <a:p>
            <a:fld id="{63EA9836-303D-4056-B115-97A20F820B1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0508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464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4871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070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1843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433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763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3281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3870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5988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248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437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309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244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6560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409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495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1051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EA9836-303D-4056-B115-97A20F820B17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193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455613" y="1141413"/>
            <a:ext cx="8226425" cy="1919287"/>
          </a:xfrm>
        </p:spPr>
        <p:txBody>
          <a:bodyPr lIns="91440"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455613" y="3563938"/>
            <a:ext cx="8226425" cy="2286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5550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65551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r>
              <a:rPr lang="en-US"/>
              <a:t>High-Performance Microprocessor Systems</a:t>
            </a:r>
            <a:endParaRPr lang="en-US" dirty="0"/>
          </a:p>
        </p:txBody>
      </p:sp>
      <p:sp>
        <p:nvSpPr>
          <p:cNvPr id="65552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9491F1F5-4FD5-4701-8651-B6E66F929598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5554" name="Rectangle 18"/>
          <p:cNvSpPr>
            <a:spLocks noChangeArrowheads="1"/>
          </p:cNvSpPr>
          <p:nvPr userDrawn="1"/>
        </p:nvSpPr>
        <p:spPr bwMode="gray">
          <a:xfrm>
            <a:off x="547688" y="2854270"/>
            <a:ext cx="8043862" cy="26988"/>
          </a:xfrm>
          <a:prstGeom prst="rect">
            <a:avLst/>
          </a:prstGeom>
          <a:gradFill rotWithShape="0">
            <a:gsLst>
              <a:gs pos="0">
                <a:srgbClr val="333395">
                  <a:gamma/>
                  <a:tint val="24706"/>
                  <a:invGamma/>
                </a:srgbClr>
              </a:gs>
              <a:gs pos="50000">
                <a:srgbClr val="333395"/>
              </a:gs>
              <a:gs pos="100000">
                <a:srgbClr val="333395">
                  <a:gamma/>
                  <a:tint val="24706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kumimoji="1" lang="en-US" sz="2400" dirty="0"/>
          </a:p>
        </p:txBody>
      </p:sp>
      <p:pic>
        <p:nvPicPr>
          <p:cNvPr id="65556" name="Picture 20" descr="C:\Martin\Talks\JobTalk\menu0bild.jpg"/>
          <p:cNvPicPr>
            <a:picLocks noChangeAspect="1" noChangeArrowheads="1"/>
          </p:cNvPicPr>
          <p:nvPr userDrawn="1"/>
        </p:nvPicPr>
        <p:blipFill>
          <a:blip r:embed="rId2" cstate="print">
            <a:lum bright="40000" contrast="-50000"/>
          </a:blip>
          <a:srcRect/>
          <a:stretch>
            <a:fillRect/>
          </a:stretch>
        </p:blipFill>
        <p:spPr bwMode="auto">
          <a:xfrm>
            <a:off x="0" y="-328613"/>
            <a:ext cx="9150350" cy="190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557" name="Picture 21" descr="C:\Martin\Talks\JobTalk\menu0bildmir.JPG"/>
          <p:cNvPicPr>
            <a:picLocks noChangeAspect="1" noChangeArrowheads="1"/>
          </p:cNvPicPr>
          <p:nvPr userDrawn="1"/>
        </p:nvPicPr>
        <p:blipFill>
          <a:blip r:embed="rId3" cstate="print">
            <a:lum bright="40000" contrast="-50000"/>
          </a:blip>
          <a:srcRect/>
          <a:stretch>
            <a:fillRect/>
          </a:stretch>
        </p:blipFill>
        <p:spPr bwMode="auto">
          <a:xfrm>
            <a:off x="0" y="5392738"/>
            <a:ext cx="9150350" cy="190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613" y="5969000"/>
            <a:ext cx="6326187" cy="4572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5971032"/>
            <a:ext cx="1905000" cy="4572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9128C3A0-0B0F-41AE-8690-F6AFB346F1B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23975"/>
            <a:ext cx="4037013" cy="4479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323975"/>
            <a:ext cx="4037012" cy="4479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5613" y="5969000"/>
            <a:ext cx="6326187" cy="4572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81800" y="5971032"/>
            <a:ext cx="1905000" cy="4572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1A3A3E02-7133-44D2-A69A-0DB94D074EB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5613" y="5969000"/>
            <a:ext cx="4725987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781800" y="5971032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47688"/>
            <a:ext cx="2057400" cy="52562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7688"/>
            <a:ext cx="6019800" cy="52562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768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23975"/>
            <a:ext cx="8226425" cy="2163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640138"/>
            <a:ext cx="8226425" cy="2163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5613" y="5969000"/>
            <a:ext cx="4649787" cy="4572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98813" y="5969000"/>
            <a:ext cx="5484812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768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23975"/>
            <a:ext cx="4037013" cy="447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6613" y="1323975"/>
            <a:ext cx="4037012" cy="4479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5613" y="5969000"/>
            <a:ext cx="4878387" cy="4572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98813" y="5969000"/>
            <a:ext cx="5484812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7688"/>
            <a:ext cx="8229600" cy="6397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323975"/>
            <a:ext cx="8226425" cy="4479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613" y="5969000"/>
            <a:ext cx="5259387" cy="4572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98813" y="5969000"/>
            <a:ext cx="5484812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fld id="{3BD80475-FB4C-4631-B1F6-3BF1B3F77F60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37" name="Picture 25" descr="C:\Martin\Talks\JobTalk\menu0bildmir.JPG"/>
          <p:cNvPicPr>
            <a:picLocks noChangeAspect="1" noChangeArrowheads="1"/>
          </p:cNvPicPr>
          <p:nvPr userDrawn="1"/>
        </p:nvPicPr>
        <p:blipFill>
          <a:blip r:embed="rId16" cstate="print">
            <a:lum bright="40000" contrast="-50000"/>
          </a:blip>
          <a:srcRect/>
          <a:stretch>
            <a:fillRect/>
          </a:stretch>
        </p:blipFill>
        <p:spPr bwMode="auto">
          <a:xfrm>
            <a:off x="0" y="5392738"/>
            <a:ext cx="9150350" cy="190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536" name="Picture 24" descr="C:\Martin\Talks\JobTalk\menu0bild.jpg"/>
          <p:cNvPicPr>
            <a:picLocks noChangeAspect="1" noChangeArrowheads="1"/>
          </p:cNvPicPr>
          <p:nvPr userDrawn="1"/>
        </p:nvPicPr>
        <p:blipFill>
          <a:blip r:embed="rId17" cstate="print">
            <a:lum bright="40000" contrast="-50000"/>
          </a:blip>
          <a:srcRect/>
          <a:stretch>
            <a:fillRect/>
          </a:stretch>
        </p:blipFill>
        <p:spPr bwMode="auto">
          <a:xfrm>
            <a:off x="0" y="-319088"/>
            <a:ext cx="9150350" cy="1906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47688"/>
            <a:ext cx="8229600" cy="6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1148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23975"/>
            <a:ext cx="8226425" cy="447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5613" y="5969000"/>
            <a:ext cx="29733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1C1C1C"/>
                </a:solidFill>
              </a:defRPr>
            </a:lvl1pPr>
          </a:lstStyle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98813" y="5969000"/>
            <a:ext cx="5484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>
                <a:solidFill>
                  <a:srgbClr val="1C1C1C"/>
                </a:solidFill>
                <a:cs typeface="Times New Roman" charset="0"/>
              </a:defRPr>
            </a:lvl1pPr>
          </a:lstStyle>
          <a:p>
            <a:r>
              <a:rPr lang="en-US">
                <a:solidFill>
                  <a:srgbClr val="292929"/>
                </a:solidFill>
              </a:rPr>
              <a:t>High-Performance Microprocessor Systems</a:t>
            </a:r>
            <a:endParaRPr lang="en-US" dirty="0">
              <a:solidFill>
                <a:srgbClr val="292929"/>
              </a:solidFill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/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</p:sldLayoutIdLst>
  <p:transition/>
  <p:hf hdr="0" ftr="0"/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rgbClr val="333397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rgbClr val="333397"/>
          </a:solidFill>
          <a:latin typeface="Arial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rgbClr val="333397"/>
          </a:solidFill>
          <a:latin typeface="Arial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rgbClr val="333397"/>
          </a:solidFill>
          <a:latin typeface="Arial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rgbClr val="333397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333397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333397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333397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333397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7B7BD1"/>
        </a:buClr>
        <a:buSzPct val="95000"/>
        <a:buFont typeface="Wingdings" pitchFamily="2" charset="2"/>
        <a:buChar char="§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8282D4"/>
        </a:buClr>
        <a:buSzPct val="90000"/>
        <a:buFont typeface="Wingdings" pitchFamily="2" charset="2"/>
        <a:buChar char="§"/>
        <a:defRPr sz="26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8A8AD6"/>
        </a:buClr>
        <a:buSzPct val="80000"/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FF6600"/>
        </a:buClr>
        <a:buSzPct val="6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FF6600"/>
        </a:buClr>
        <a:buSzPct val="6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FF6600"/>
        </a:buClr>
        <a:buSzPct val="6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FF6600"/>
        </a:buClr>
        <a:buSzPct val="6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FF6600"/>
        </a:buClr>
        <a:buSzPct val="60000"/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5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27.png"/><Relationship Id="rId4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31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32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3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3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141414"/>
            <a:ext cx="9143999" cy="1327056"/>
          </a:xfrm>
        </p:spPr>
        <p:txBody>
          <a:bodyPr/>
          <a:lstStyle/>
          <a:p>
            <a:r>
              <a:rPr lang="en-US" b="1" dirty="0"/>
              <a:t>High-Speed Graph Coloring on GPUs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3600" y="4255579"/>
            <a:ext cx="1710688" cy="1065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600" y="4103179"/>
            <a:ext cx="2753084" cy="1344168"/>
          </a:xfrm>
          <a:prstGeom prst="rect">
            <a:avLst/>
          </a:prstGeom>
        </p:spPr>
      </p:pic>
      <p:sp>
        <p:nvSpPr>
          <p:cNvPr id="3696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9106" y="3091748"/>
            <a:ext cx="8346331" cy="2192338"/>
          </a:xfrm>
        </p:spPr>
        <p:txBody>
          <a:bodyPr/>
          <a:lstStyle/>
          <a:p>
            <a:r>
              <a:rPr lang="en-US" sz="2800" dirty="0"/>
              <a:t>Ghadeer Alabandi, Evan Powers, and Martin Burtscher*</a:t>
            </a:r>
          </a:p>
          <a:p>
            <a:r>
              <a:rPr lang="en-US" sz="2000" dirty="0"/>
              <a:t>GPU Technology Conference (GTC) 2021</a:t>
            </a:r>
          </a:p>
        </p:txBody>
      </p:sp>
    </p:spTree>
    <p:extLst>
      <p:ext uri="{BB962C8B-B14F-4D97-AF65-F5344CB8AC3E}">
        <p14:creationId xmlns:p14="http://schemas.microsoft.com/office/powerpoint/2010/main" val="16819674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Coloring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99DD62-071B-4450-ACE2-9D56BB41F8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23975"/>
                <a:ext cx="8430768" cy="4479925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</a:pPr>
                <a:r>
                  <a:rPr lang="en-US" dirty="0"/>
                  <a:t>The coloring of an undirected graph G = (V, E) is a </a:t>
                </a:r>
                <a:r>
                  <a:rPr lang="en-US" dirty="0">
                    <a:solidFill>
                      <a:srgbClr val="FF0000"/>
                    </a:solidFill>
                  </a:rPr>
                  <a:t>mapping C from vertices to colors </a:t>
                </a:r>
                <a:r>
                  <a:rPr lang="en-US" dirty="0"/>
                  <a:t>such that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dirty="0"/>
                  <a:t>C(</a:t>
                </a:r>
                <a:r>
                  <a:rPr lang="en-US" dirty="0" err="1"/>
                  <a:t>i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≠ </m:t>
                    </m:r>
                  </m:oMath>
                </a14:m>
                <a:r>
                  <a:rPr lang="en-US" dirty="0"/>
                  <a:t>C(j) for every edge (i, j) ∈ E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dirty="0"/>
                  <a:t>Total number of colors is small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dirty="0"/>
                  <a:t>Serial algorithm is trivial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dirty="0"/>
                  <a:t>Select an uncolored vertex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dirty="0"/>
                  <a:t>Color it with “best” possible color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dirty="0"/>
                  <a:t>Repeat until entire graph is colored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99DD62-071B-4450-ACE2-9D56BB41F8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23975"/>
                <a:ext cx="8430768" cy="4479925"/>
              </a:xfrm>
              <a:blipFill>
                <a:blip r:embed="rId4"/>
                <a:stretch>
                  <a:fillRect l="-1302" t="-16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95C23E-057D-BC45-B29B-F28E5CC81B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397" y="2410819"/>
            <a:ext cx="1892808" cy="14635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596D10-20A6-A845-939D-DA576BCDE96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704" y="3600931"/>
            <a:ext cx="1892808" cy="146351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4F921A0-E5EB-3B4A-9417-1FBD132F8CC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84" y="5309282"/>
            <a:ext cx="88392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865518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49056" cy="4479925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dirty="0"/>
              <a:t>Our parallel ECL-GC algorithm</a:t>
            </a:r>
          </a:p>
          <a:p>
            <a:pPr lvl="1">
              <a:spcBef>
                <a:spcPts val="300"/>
              </a:spcBef>
            </a:pPr>
            <a:r>
              <a:rPr lang="en-US" dirty="0">
                <a:solidFill>
                  <a:srgbClr val="FF0000"/>
                </a:solidFill>
              </a:rPr>
              <a:t>Increases parallelism </a:t>
            </a:r>
            <a:r>
              <a:rPr lang="en-US" dirty="0"/>
              <a:t>by breaking dependencies</a:t>
            </a:r>
          </a:p>
          <a:p>
            <a:pPr lvl="2">
              <a:spcBef>
                <a:spcPts val="300"/>
              </a:spcBef>
            </a:pPr>
            <a:r>
              <a:rPr lang="en-US" dirty="0"/>
              <a:t>Call these techniques “</a:t>
            </a:r>
            <a:r>
              <a:rPr lang="en-US" dirty="0">
                <a:solidFill>
                  <a:srgbClr val="0070C0"/>
                </a:solidFill>
              </a:rPr>
              <a:t>shortcuts</a:t>
            </a:r>
            <a:r>
              <a:rPr lang="en-US" dirty="0"/>
              <a:t>”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Produces </a:t>
            </a:r>
            <a:r>
              <a:rPr lang="en-US" dirty="0">
                <a:solidFill>
                  <a:srgbClr val="FF0000"/>
                </a:solidFill>
              </a:rPr>
              <a:t>deterministic </a:t>
            </a:r>
            <a:r>
              <a:rPr lang="en-US" dirty="0"/>
              <a:t>color assignment</a:t>
            </a:r>
          </a:p>
          <a:p>
            <a:pPr lvl="2">
              <a:spcBef>
                <a:spcPts val="300"/>
              </a:spcBef>
            </a:pPr>
            <a:r>
              <a:rPr lang="en-US" dirty="0"/>
              <a:t>Serial, parallel w/o shortcuts, parallel with shortcuts</a:t>
            </a:r>
          </a:p>
          <a:p>
            <a:pPr>
              <a:spcBef>
                <a:spcPts val="300"/>
              </a:spcBef>
            </a:pPr>
            <a:r>
              <a:rPr lang="en-US" dirty="0"/>
              <a:t>CUDA code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Demonstrates </a:t>
            </a:r>
            <a:r>
              <a:rPr lang="en-US" dirty="0">
                <a:solidFill>
                  <a:srgbClr val="FF0000"/>
                </a:solidFill>
              </a:rPr>
              <a:t>efficient implementation </a:t>
            </a:r>
            <a:r>
              <a:rPr lang="en-US" dirty="0"/>
              <a:t>of shortcuts</a:t>
            </a:r>
          </a:p>
          <a:p>
            <a:pPr>
              <a:spcBef>
                <a:spcPts val="300"/>
              </a:spcBef>
            </a:pPr>
            <a:r>
              <a:rPr lang="en-US" dirty="0"/>
              <a:t>Results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2.5 times more intrinsic parallelism (1.0x - 12.4x)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2.9 and 4.0 times faster than fastest GPU &amp; CPU codes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495286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/>
              <a:t>Finding a graph coloring with the minimum number of colors is </a:t>
            </a:r>
            <a:r>
              <a:rPr lang="en-US" dirty="0">
                <a:solidFill>
                  <a:srgbClr val="FF0000"/>
                </a:solidFill>
              </a:rPr>
              <a:t>NP-hard</a:t>
            </a:r>
          </a:p>
          <a:p>
            <a:pPr lvl="4"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Several </a:t>
            </a:r>
            <a:r>
              <a:rPr lang="en-US" dirty="0">
                <a:solidFill>
                  <a:srgbClr val="FF0000"/>
                </a:solidFill>
              </a:rPr>
              <a:t>heuristics</a:t>
            </a:r>
            <a:r>
              <a:rPr lang="en-US" dirty="0"/>
              <a:t> exist to color graphs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Guarantee that adjacent vertices have distinct colors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Require different numbers of colors</a:t>
            </a:r>
          </a:p>
          <a:p>
            <a:pPr lvl="4">
              <a:spcBef>
                <a:spcPts val="600"/>
              </a:spcBef>
            </a:pPr>
            <a:endParaRPr lang="en-US" dirty="0"/>
          </a:p>
          <a:p>
            <a:pPr>
              <a:spcBef>
                <a:spcPts val="600"/>
              </a:spcBef>
            </a:pPr>
            <a:r>
              <a:rPr lang="en-US" dirty="0"/>
              <a:t>These heuristics provide different tradeoffs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Trade off coloring quality and execution time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80459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600"/>
              </a:spcBef>
              <a:buNone/>
            </a:pPr>
            <a:endParaRPr lang="en-US" sz="4400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600"/>
              </a:spcBef>
              <a:buNone/>
            </a:pPr>
            <a:endParaRPr lang="en-US" sz="4400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en-US" sz="6000" dirty="0">
                <a:solidFill>
                  <a:srgbClr val="0070C0"/>
                </a:solidFill>
              </a:rPr>
              <a:t>Prior GC Algorithms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97130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Greedy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dirty="0"/>
              <a:t>Assign a random </a:t>
            </a:r>
            <a:r>
              <a:rPr lang="en-US" dirty="0">
                <a:solidFill>
                  <a:srgbClr val="0070C0"/>
                </a:solidFill>
              </a:rPr>
              <a:t>priority</a:t>
            </a:r>
            <a:r>
              <a:rPr lang="en-US" dirty="0"/>
              <a:t> to each vertex</a:t>
            </a:r>
          </a:p>
          <a:p>
            <a:pPr>
              <a:spcBef>
                <a:spcPts val="900"/>
              </a:spcBef>
            </a:pPr>
            <a:r>
              <a:rPr lang="en-US" dirty="0"/>
              <a:t>Select the highest-priority uncolored vertex</a:t>
            </a:r>
          </a:p>
          <a:p>
            <a:pPr>
              <a:spcBef>
                <a:spcPts val="900"/>
              </a:spcBef>
            </a:pPr>
            <a:r>
              <a:rPr lang="en-US" dirty="0"/>
              <a:t>Color this vertex with the best possible color</a:t>
            </a:r>
          </a:p>
          <a:p>
            <a:pPr lvl="1">
              <a:spcBef>
                <a:spcPts val="900"/>
              </a:spcBef>
            </a:pPr>
            <a:r>
              <a:rPr lang="en-US" dirty="0"/>
              <a:t>The colors are </a:t>
            </a:r>
            <a:r>
              <a:rPr lang="en-US" dirty="0">
                <a:solidFill>
                  <a:srgbClr val="FF0000"/>
                </a:solidFill>
              </a:rPr>
              <a:t>ordered</a:t>
            </a:r>
            <a:r>
              <a:rPr lang="en-US" dirty="0"/>
              <a:t> (see below)</a:t>
            </a:r>
          </a:p>
          <a:p>
            <a:pPr lvl="2">
              <a:spcBef>
                <a:spcPts val="900"/>
              </a:spcBef>
            </a:pPr>
            <a:r>
              <a:rPr lang="en-US" dirty="0"/>
              <a:t>First color is the most preferred color</a:t>
            </a:r>
          </a:p>
          <a:p>
            <a:pPr>
              <a:spcBef>
                <a:spcPts val="900"/>
              </a:spcBef>
            </a:pPr>
            <a:r>
              <a:rPr lang="en-US" dirty="0"/>
              <a:t>Repeat steps 2 and 3 until entire graph is colored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7DDB9E-A43E-2847-AFD0-F285730E7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84" y="5207949"/>
            <a:ext cx="88392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66362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Priority Heuristics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dirty="0"/>
              <a:t>First fit (FF) </a:t>
            </a:r>
          </a:p>
          <a:p>
            <a:pPr>
              <a:spcBef>
                <a:spcPts val="900"/>
              </a:spcBef>
            </a:pPr>
            <a:r>
              <a:rPr lang="en-US" dirty="0"/>
              <a:t>Random (R)</a:t>
            </a:r>
          </a:p>
          <a:p>
            <a:pPr>
              <a:spcBef>
                <a:spcPts val="900"/>
              </a:spcBef>
            </a:pPr>
            <a:r>
              <a:rPr lang="en-US" dirty="0">
                <a:solidFill>
                  <a:srgbClr val="0070C0"/>
                </a:solidFill>
              </a:rPr>
              <a:t>Largest degree first (LDF) </a:t>
            </a:r>
          </a:p>
          <a:p>
            <a:pPr>
              <a:spcBef>
                <a:spcPts val="900"/>
              </a:spcBef>
            </a:pPr>
            <a:r>
              <a:rPr lang="en-US" dirty="0"/>
              <a:t>Smallest degree last (SDL) </a:t>
            </a:r>
          </a:p>
          <a:p>
            <a:pPr>
              <a:spcBef>
                <a:spcPts val="900"/>
              </a:spcBef>
            </a:pPr>
            <a:r>
              <a:rPr lang="en-US" dirty="0"/>
              <a:t>Saturation degree (SD) </a:t>
            </a:r>
          </a:p>
          <a:p>
            <a:pPr>
              <a:spcBef>
                <a:spcPts val="900"/>
              </a:spcBef>
            </a:pPr>
            <a:r>
              <a:rPr lang="en-US" dirty="0"/>
              <a:t>Incidence degree (ID) </a:t>
            </a:r>
          </a:p>
          <a:p>
            <a:pPr>
              <a:spcBef>
                <a:spcPts val="900"/>
              </a:spcBef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921462-4F79-B64A-8141-B56E0A19CB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115" y="2088593"/>
            <a:ext cx="2365247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5904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FCA7FD6-37A5-4C9D-B22F-C26B9212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LDF Example: Input Graph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C3AF7-92FD-4FE2-A69F-5502D0F3F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3A63D-10B1-45FE-9F3B-FBEC2C23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3E02-7133-44D2-A69A-0DB94D074EB5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3129813-B6BC-47A2-A89E-56AA30784D0D}"/>
              </a:ext>
            </a:extLst>
          </p:cNvPr>
          <p:cNvGrpSpPr/>
          <p:nvPr/>
        </p:nvGrpSpPr>
        <p:grpSpPr>
          <a:xfrm>
            <a:off x="2286000" y="1554480"/>
            <a:ext cx="4800600" cy="3581400"/>
            <a:chOff x="2514600" y="1752600"/>
            <a:chExt cx="4800600" cy="35814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DED23E6-2A04-4079-9859-75AD2A292B9E}"/>
                </a:ext>
              </a:extLst>
            </p:cNvPr>
            <p:cNvCxnSpPr>
              <a:cxnSpLocks/>
              <a:stCxn id="23" idx="4"/>
              <a:endCxn id="24" idx="1"/>
            </p:cNvCxnSpPr>
            <p:nvPr/>
          </p:nvCxnSpPr>
          <p:spPr bwMode="auto">
            <a:xfrm>
              <a:off x="4008120" y="3830787"/>
              <a:ext cx="491826" cy="103491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FF074F-FA4A-4473-B879-A1D065DB4578}"/>
                </a:ext>
              </a:extLst>
            </p:cNvPr>
            <p:cNvCxnSpPr>
              <a:cxnSpLocks/>
              <a:stCxn id="27" idx="6"/>
              <a:endCxn id="23" idx="2"/>
            </p:cNvCxnSpPr>
            <p:nvPr/>
          </p:nvCxnSpPr>
          <p:spPr bwMode="auto">
            <a:xfrm>
              <a:off x="3063240" y="3550547"/>
              <a:ext cx="670560" cy="592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BAC73E0-962B-4BAA-B8EF-0168D223135C}"/>
                </a:ext>
              </a:extLst>
            </p:cNvPr>
            <p:cNvCxnSpPr>
              <a:cxnSpLocks/>
              <a:stCxn id="29" idx="5"/>
              <a:endCxn id="26" idx="1"/>
            </p:cNvCxnSpPr>
            <p:nvPr/>
          </p:nvCxnSpPr>
          <p:spPr bwMode="auto">
            <a:xfrm>
              <a:off x="4887894" y="2220894"/>
              <a:ext cx="511212" cy="526452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9839E5E-930A-481E-A3C2-CFEBE340EA76}"/>
                </a:ext>
              </a:extLst>
            </p:cNvPr>
            <p:cNvCxnSpPr>
              <a:cxnSpLocks/>
              <a:stCxn id="29" idx="6"/>
              <a:endCxn id="25" idx="0"/>
            </p:cNvCxnSpPr>
            <p:nvPr/>
          </p:nvCxnSpPr>
          <p:spPr bwMode="auto">
            <a:xfrm>
              <a:off x="4968240" y="2026920"/>
              <a:ext cx="2072640" cy="1255227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1CF96E-3825-462F-93C6-F814F617691D}"/>
                </a:ext>
              </a:extLst>
            </p:cNvPr>
            <p:cNvCxnSpPr>
              <a:cxnSpLocks/>
              <a:stCxn id="29" idx="3"/>
              <a:endCxn id="23" idx="0"/>
            </p:cNvCxnSpPr>
            <p:nvPr/>
          </p:nvCxnSpPr>
          <p:spPr bwMode="auto">
            <a:xfrm flipH="1">
              <a:off x="4008120" y="2220894"/>
              <a:ext cx="491826" cy="106125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7BB378-AA2E-48BA-832D-41352FC781E5}"/>
                </a:ext>
              </a:extLst>
            </p:cNvPr>
            <p:cNvCxnSpPr>
              <a:cxnSpLocks/>
              <a:stCxn id="26" idx="3"/>
              <a:endCxn id="24" idx="0"/>
            </p:cNvCxnSpPr>
            <p:nvPr/>
          </p:nvCxnSpPr>
          <p:spPr bwMode="auto">
            <a:xfrm flipH="1">
              <a:off x="4693920" y="3135294"/>
              <a:ext cx="705186" cy="1650066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EDBF652-C02C-4A77-B1CE-116BB80CAF61}"/>
                </a:ext>
              </a:extLst>
            </p:cNvPr>
            <p:cNvCxnSpPr>
              <a:cxnSpLocks/>
              <a:stCxn id="25" idx="4"/>
              <a:endCxn id="24" idx="6"/>
            </p:cNvCxnSpPr>
            <p:nvPr/>
          </p:nvCxnSpPr>
          <p:spPr bwMode="auto">
            <a:xfrm flipH="1">
              <a:off x="4968240" y="3830787"/>
              <a:ext cx="2072640" cy="122889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F4FA8BD-67E3-43E2-B930-7551526B0E14}"/>
                </a:ext>
              </a:extLst>
            </p:cNvPr>
            <p:cNvCxnSpPr>
              <a:cxnSpLocks/>
              <a:stCxn id="27" idx="5"/>
              <a:endCxn id="24" idx="2"/>
            </p:cNvCxnSpPr>
            <p:nvPr/>
          </p:nvCxnSpPr>
          <p:spPr bwMode="auto">
            <a:xfrm>
              <a:off x="2982894" y="3744521"/>
              <a:ext cx="1436706" cy="131515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EF42D5-B29F-412B-AFBE-247FE1F0BC2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33800" y="3282147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B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EAB9109-8166-492E-9817-7F781A7853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419600" y="4785360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lang="en-US" b="1" dirty="0"/>
                <a:t>C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2AFB0A2-3662-4C0F-84E4-43BE2DA187A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6560" y="3282147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lang="en-US" b="1" dirty="0"/>
                <a:t>F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EE6DA27-A95F-4605-B87F-12D1CDD47AA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18760" y="2667000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D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C6BC20-1CD5-4C9D-8F75-B48427C17F2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514600" y="3276227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G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9AAB23F-DCE9-4F18-9977-A8C3F30CB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419600" y="1752600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lang="en-US" b="1" dirty="0"/>
                <a:t>A</a:t>
              </a:r>
              <a:endParaRPr kumimoji="0" lang="en-US" sz="40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F45A9F8-DB53-4BB9-93C0-0A2B4BC98CF7}"/>
                </a:ext>
              </a:extLst>
            </p:cNvPr>
            <p:cNvCxnSpPr>
              <a:cxnSpLocks/>
              <a:stCxn id="27" idx="7"/>
              <a:endCxn id="29" idx="2"/>
            </p:cNvCxnSpPr>
            <p:nvPr/>
          </p:nvCxnSpPr>
          <p:spPr bwMode="auto">
            <a:xfrm flipV="1">
              <a:off x="2982894" y="2026920"/>
              <a:ext cx="1436706" cy="132965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42D9B17-8146-4D09-891B-22E5311106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18760" y="3870960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E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F453B94-41AE-47D9-B6F5-6CA192A152F4}"/>
                </a:ext>
              </a:extLst>
            </p:cNvPr>
            <p:cNvCxnSpPr>
              <a:cxnSpLocks/>
              <a:stCxn id="23" idx="7"/>
              <a:endCxn id="26" idx="2"/>
            </p:cNvCxnSpPr>
            <p:nvPr/>
          </p:nvCxnSpPr>
          <p:spPr bwMode="auto">
            <a:xfrm flipV="1">
              <a:off x="4202094" y="2941320"/>
              <a:ext cx="1116666" cy="42117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37DF07C-D6FD-4714-96B0-FF52672051DC}"/>
                </a:ext>
              </a:extLst>
            </p:cNvPr>
            <p:cNvCxnSpPr>
              <a:cxnSpLocks/>
              <a:stCxn id="23" idx="5"/>
              <a:endCxn id="36" idx="2"/>
            </p:cNvCxnSpPr>
            <p:nvPr/>
          </p:nvCxnSpPr>
          <p:spPr bwMode="auto">
            <a:xfrm>
              <a:off x="4202094" y="3750441"/>
              <a:ext cx="1116666" cy="39483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25212A8-9C67-46F6-B228-63D6B3395D2A}"/>
                </a:ext>
              </a:extLst>
            </p:cNvPr>
            <p:cNvCxnSpPr>
              <a:cxnSpLocks/>
              <a:stCxn id="24" idx="7"/>
              <a:endCxn id="36" idx="3"/>
            </p:cNvCxnSpPr>
            <p:nvPr/>
          </p:nvCxnSpPr>
          <p:spPr bwMode="auto">
            <a:xfrm flipV="1">
              <a:off x="4887894" y="4339254"/>
              <a:ext cx="511212" cy="526452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CD66C3-107D-49B8-809F-4C7E8D12ED19}"/>
                </a:ext>
              </a:extLst>
            </p:cNvPr>
            <p:cNvCxnSpPr>
              <a:cxnSpLocks/>
              <a:stCxn id="29" idx="4"/>
              <a:endCxn id="36" idx="1"/>
            </p:cNvCxnSpPr>
            <p:nvPr/>
          </p:nvCxnSpPr>
          <p:spPr bwMode="auto">
            <a:xfrm>
              <a:off x="4693920" y="2301240"/>
              <a:ext cx="705186" cy="1650066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B36F192-D2F0-4972-8040-1167A7F4C900}"/>
                </a:ext>
              </a:extLst>
            </p:cNvPr>
            <p:cNvCxnSpPr>
              <a:cxnSpLocks/>
              <a:stCxn id="36" idx="6"/>
              <a:endCxn id="25" idx="3"/>
            </p:cNvCxnSpPr>
            <p:nvPr/>
          </p:nvCxnSpPr>
          <p:spPr bwMode="auto">
            <a:xfrm flipV="1">
              <a:off x="5867400" y="3750441"/>
              <a:ext cx="979506" cy="39483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27C5DB4-35AC-4B33-90CE-3EFCFC0EA79F}"/>
                </a:ext>
              </a:extLst>
            </p:cNvPr>
            <p:cNvCxnSpPr>
              <a:cxnSpLocks/>
              <a:stCxn id="26" idx="6"/>
              <a:endCxn id="25" idx="1"/>
            </p:cNvCxnSpPr>
            <p:nvPr/>
          </p:nvCxnSpPr>
          <p:spPr bwMode="auto">
            <a:xfrm>
              <a:off x="5867400" y="2941320"/>
              <a:ext cx="979506" cy="42117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42CB0EA-99B8-47DD-8BDB-88CF9960BA09}"/>
                </a:ext>
              </a:extLst>
            </p:cNvPr>
            <p:cNvCxnSpPr>
              <a:cxnSpLocks/>
              <a:stCxn id="26" idx="4"/>
              <a:endCxn id="36" idx="0"/>
            </p:cNvCxnSpPr>
            <p:nvPr/>
          </p:nvCxnSpPr>
          <p:spPr bwMode="auto">
            <a:xfrm>
              <a:off x="5593080" y="3215640"/>
              <a:ext cx="0" cy="65532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99256299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FCA7FD6-37A5-4C9D-B22F-C26B9212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LDF Example: Imposed Priority DAG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21489-B390-4A71-A519-3F7823740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800" dirty="0"/>
              <a:t>From higher- to lower-degree vertex (alpha tie breaker)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C3AF7-92FD-4FE2-A69F-5502D0F3F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3A63D-10B1-45FE-9F3B-FBEC2C23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3E02-7133-44D2-A69A-0DB94D074EB5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2311DB-9E03-41D6-B4CB-C18FD778A57B}"/>
              </a:ext>
            </a:extLst>
          </p:cNvPr>
          <p:cNvGrpSpPr/>
          <p:nvPr/>
        </p:nvGrpSpPr>
        <p:grpSpPr>
          <a:xfrm>
            <a:off x="2286000" y="1554480"/>
            <a:ext cx="4800600" cy="3581400"/>
            <a:chOff x="2514600" y="1752600"/>
            <a:chExt cx="4800600" cy="35814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DED23E6-2A04-4079-9859-75AD2A292B9E}"/>
                </a:ext>
              </a:extLst>
            </p:cNvPr>
            <p:cNvCxnSpPr>
              <a:cxnSpLocks/>
              <a:stCxn id="23" idx="4"/>
              <a:endCxn id="24" idx="1"/>
            </p:cNvCxnSpPr>
            <p:nvPr/>
          </p:nvCxnSpPr>
          <p:spPr bwMode="auto">
            <a:xfrm>
              <a:off x="4008120" y="3830787"/>
              <a:ext cx="491826" cy="103491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FF074F-FA4A-4473-B879-A1D065DB4578}"/>
                </a:ext>
              </a:extLst>
            </p:cNvPr>
            <p:cNvCxnSpPr>
              <a:cxnSpLocks/>
              <a:stCxn id="27" idx="6"/>
              <a:endCxn id="23" idx="2"/>
            </p:cNvCxnSpPr>
            <p:nvPr/>
          </p:nvCxnSpPr>
          <p:spPr bwMode="auto">
            <a:xfrm>
              <a:off x="3063240" y="3550547"/>
              <a:ext cx="670560" cy="592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BAC73E0-962B-4BAA-B8EF-0168D223135C}"/>
                </a:ext>
              </a:extLst>
            </p:cNvPr>
            <p:cNvCxnSpPr>
              <a:cxnSpLocks/>
              <a:stCxn id="29" idx="5"/>
              <a:endCxn id="26" idx="1"/>
            </p:cNvCxnSpPr>
            <p:nvPr/>
          </p:nvCxnSpPr>
          <p:spPr bwMode="auto">
            <a:xfrm>
              <a:off x="4887894" y="2220894"/>
              <a:ext cx="511212" cy="526452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9839E5E-930A-481E-A3C2-CFEBE340EA76}"/>
                </a:ext>
              </a:extLst>
            </p:cNvPr>
            <p:cNvCxnSpPr>
              <a:cxnSpLocks/>
              <a:stCxn id="29" idx="6"/>
              <a:endCxn id="25" idx="0"/>
            </p:cNvCxnSpPr>
            <p:nvPr/>
          </p:nvCxnSpPr>
          <p:spPr bwMode="auto">
            <a:xfrm>
              <a:off x="4968240" y="2026920"/>
              <a:ext cx="2072640" cy="1255227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1CF96E-3825-462F-93C6-F814F617691D}"/>
                </a:ext>
              </a:extLst>
            </p:cNvPr>
            <p:cNvCxnSpPr>
              <a:cxnSpLocks/>
              <a:stCxn id="29" idx="3"/>
              <a:endCxn id="23" idx="0"/>
            </p:cNvCxnSpPr>
            <p:nvPr/>
          </p:nvCxnSpPr>
          <p:spPr bwMode="auto">
            <a:xfrm flipH="1">
              <a:off x="4008120" y="2220894"/>
              <a:ext cx="491826" cy="106125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7BB378-AA2E-48BA-832D-41352FC781E5}"/>
                </a:ext>
              </a:extLst>
            </p:cNvPr>
            <p:cNvCxnSpPr>
              <a:cxnSpLocks/>
              <a:stCxn id="26" idx="3"/>
              <a:endCxn id="24" idx="0"/>
            </p:cNvCxnSpPr>
            <p:nvPr/>
          </p:nvCxnSpPr>
          <p:spPr bwMode="auto">
            <a:xfrm flipH="1">
              <a:off x="4693920" y="3135294"/>
              <a:ext cx="705186" cy="1650066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EDBF652-C02C-4A77-B1CE-116BB80CAF61}"/>
                </a:ext>
              </a:extLst>
            </p:cNvPr>
            <p:cNvCxnSpPr>
              <a:cxnSpLocks/>
              <a:stCxn id="25" idx="4"/>
              <a:endCxn id="24" idx="6"/>
            </p:cNvCxnSpPr>
            <p:nvPr/>
          </p:nvCxnSpPr>
          <p:spPr bwMode="auto">
            <a:xfrm flipH="1">
              <a:off x="4968240" y="3830787"/>
              <a:ext cx="2072640" cy="122889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F4FA8BD-67E3-43E2-B930-7551526B0E14}"/>
                </a:ext>
              </a:extLst>
            </p:cNvPr>
            <p:cNvCxnSpPr>
              <a:cxnSpLocks/>
              <a:stCxn id="27" idx="5"/>
              <a:endCxn id="24" idx="2"/>
            </p:cNvCxnSpPr>
            <p:nvPr/>
          </p:nvCxnSpPr>
          <p:spPr bwMode="auto">
            <a:xfrm>
              <a:off x="2982894" y="3744521"/>
              <a:ext cx="1436706" cy="131515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EF42D5-B29F-412B-AFBE-247FE1F0BC2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33800" y="3282147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B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EAB9109-8166-492E-9817-7F781A7853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419600" y="4785360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lang="en-US" b="1" dirty="0"/>
                <a:t>C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2AFB0A2-3662-4C0F-84E4-43BE2DA187A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6560" y="3282147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lang="en-US" b="1" dirty="0"/>
                <a:t>F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EE6DA27-A95F-4605-B87F-12D1CDD47AA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18760" y="2667000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D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C6BC20-1CD5-4C9D-8F75-B48427C17F2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514600" y="3276227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G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9AAB23F-DCE9-4F18-9977-A8C3F30CB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419600" y="1752600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lang="en-US" b="1" dirty="0"/>
                <a:t>A</a:t>
              </a:r>
              <a:endParaRPr kumimoji="0" lang="en-US" sz="40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F45A9F8-DB53-4BB9-93C0-0A2B4BC98CF7}"/>
                </a:ext>
              </a:extLst>
            </p:cNvPr>
            <p:cNvCxnSpPr>
              <a:cxnSpLocks/>
              <a:stCxn id="27" idx="7"/>
              <a:endCxn id="29" idx="2"/>
            </p:cNvCxnSpPr>
            <p:nvPr/>
          </p:nvCxnSpPr>
          <p:spPr bwMode="auto">
            <a:xfrm flipV="1">
              <a:off x="2982894" y="2026920"/>
              <a:ext cx="1436706" cy="132965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triangle" w="lg" len="lg"/>
              <a:tailEnd type="none" w="lg" len="lg"/>
            </a:ln>
            <a:effectLst/>
          </p:spPr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42D9B17-8146-4D09-891B-22E5311106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18760" y="3870960"/>
              <a:ext cx="548640" cy="548640"/>
            </a:xfrm>
            <a:prstGeom prst="ellips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E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F453B94-41AE-47D9-B6F5-6CA192A152F4}"/>
                </a:ext>
              </a:extLst>
            </p:cNvPr>
            <p:cNvCxnSpPr>
              <a:cxnSpLocks/>
              <a:stCxn id="23" idx="7"/>
              <a:endCxn id="26" idx="2"/>
            </p:cNvCxnSpPr>
            <p:nvPr/>
          </p:nvCxnSpPr>
          <p:spPr bwMode="auto">
            <a:xfrm flipV="1">
              <a:off x="4202094" y="2941320"/>
              <a:ext cx="1116666" cy="42117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37DF07C-D6FD-4714-96B0-FF52672051DC}"/>
                </a:ext>
              </a:extLst>
            </p:cNvPr>
            <p:cNvCxnSpPr>
              <a:cxnSpLocks/>
              <a:stCxn id="23" idx="5"/>
              <a:endCxn id="36" idx="2"/>
            </p:cNvCxnSpPr>
            <p:nvPr/>
          </p:nvCxnSpPr>
          <p:spPr bwMode="auto">
            <a:xfrm>
              <a:off x="4202094" y="3750441"/>
              <a:ext cx="1116666" cy="39483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25212A8-9C67-46F6-B228-63D6B3395D2A}"/>
                </a:ext>
              </a:extLst>
            </p:cNvPr>
            <p:cNvCxnSpPr>
              <a:cxnSpLocks/>
              <a:stCxn id="24" idx="7"/>
              <a:endCxn id="36" idx="3"/>
            </p:cNvCxnSpPr>
            <p:nvPr/>
          </p:nvCxnSpPr>
          <p:spPr bwMode="auto">
            <a:xfrm flipV="1">
              <a:off x="4887894" y="4339254"/>
              <a:ext cx="511212" cy="526452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CD66C3-107D-49B8-809F-4C7E8D12ED19}"/>
                </a:ext>
              </a:extLst>
            </p:cNvPr>
            <p:cNvCxnSpPr>
              <a:cxnSpLocks/>
              <a:stCxn id="29" idx="4"/>
              <a:endCxn id="36" idx="1"/>
            </p:cNvCxnSpPr>
            <p:nvPr/>
          </p:nvCxnSpPr>
          <p:spPr bwMode="auto">
            <a:xfrm>
              <a:off x="4693920" y="2301240"/>
              <a:ext cx="705186" cy="1650066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B36F192-D2F0-4972-8040-1167A7F4C900}"/>
                </a:ext>
              </a:extLst>
            </p:cNvPr>
            <p:cNvCxnSpPr>
              <a:cxnSpLocks/>
              <a:stCxn id="36" idx="6"/>
              <a:endCxn id="25" idx="3"/>
            </p:cNvCxnSpPr>
            <p:nvPr/>
          </p:nvCxnSpPr>
          <p:spPr bwMode="auto">
            <a:xfrm flipV="1">
              <a:off x="5867400" y="3750441"/>
              <a:ext cx="979506" cy="39483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27C5DB4-35AC-4B33-90CE-3EFCFC0EA79F}"/>
                </a:ext>
              </a:extLst>
            </p:cNvPr>
            <p:cNvCxnSpPr>
              <a:cxnSpLocks/>
              <a:stCxn id="26" idx="6"/>
              <a:endCxn id="25" idx="1"/>
            </p:cNvCxnSpPr>
            <p:nvPr/>
          </p:nvCxnSpPr>
          <p:spPr bwMode="auto">
            <a:xfrm>
              <a:off x="5867400" y="2941320"/>
              <a:ext cx="979506" cy="42117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40797BC-D38F-4548-8F3E-61C3A4C5D353}"/>
                </a:ext>
              </a:extLst>
            </p:cNvPr>
            <p:cNvCxnSpPr>
              <a:cxnSpLocks/>
              <a:stCxn id="26" idx="4"/>
              <a:endCxn id="36" idx="0"/>
            </p:cNvCxnSpPr>
            <p:nvPr/>
          </p:nvCxnSpPr>
          <p:spPr bwMode="auto">
            <a:xfrm>
              <a:off x="5593080" y="3215640"/>
              <a:ext cx="0" cy="65532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lg" len="lg"/>
              <a:tailEnd type="triangle" w="lg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00289159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FCA7FD6-37A5-4C9D-B22F-C26B9212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LDF Example: Resulting Coloring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C3AF7-92FD-4FE2-A69F-5502D0F3F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3A63D-10B1-45FE-9F3B-FBEC2C23B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3A3E02-7133-44D2-A69A-0DB94D074EB5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519AB57-634F-4FBA-9433-9E6BF4B6EF27}"/>
              </a:ext>
            </a:extLst>
          </p:cNvPr>
          <p:cNvGrpSpPr/>
          <p:nvPr/>
        </p:nvGrpSpPr>
        <p:grpSpPr>
          <a:xfrm>
            <a:off x="2286000" y="1554480"/>
            <a:ext cx="4800600" cy="3581400"/>
            <a:chOff x="2514600" y="1752600"/>
            <a:chExt cx="4800600" cy="35814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DED23E6-2A04-4079-9859-75AD2A292B9E}"/>
                </a:ext>
              </a:extLst>
            </p:cNvPr>
            <p:cNvCxnSpPr>
              <a:cxnSpLocks/>
              <a:stCxn id="23" idx="4"/>
              <a:endCxn id="24" idx="1"/>
            </p:cNvCxnSpPr>
            <p:nvPr/>
          </p:nvCxnSpPr>
          <p:spPr bwMode="auto">
            <a:xfrm>
              <a:off x="4008120" y="3830787"/>
              <a:ext cx="491826" cy="103491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5FF074F-FA4A-4473-B879-A1D065DB4578}"/>
                </a:ext>
              </a:extLst>
            </p:cNvPr>
            <p:cNvCxnSpPr>
              <a:cxnSpLocks/>
              <a:stCxn id="27" idx="6"/>
              <a:endCxn id="23" idx="2"/>
            </p:cNvCxnSpPr>
            <p:nvPr/>
          </p:nvCxnSpPr>
          <p:spPr bwMode="auto">
            <a:xfrm>
              <a:off x="3063240" y="3550547"/>
              <a:ext cx="670560" cy="592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BAC73E0-962B-4BAA-B8EF-0168D223135C}"/>
                </a:ext>
              </a:extLst>
            </p:cNvPr>
            <p:cNvCxnSpPr>
              <a:cxnSpLocks/>
              <a:stCxn id="29" idx="5"/>
              <a:endCxn id="26" idx="1"/>
            </p:cNvCxnSpPr>
            <p:nvPr/>
          </p:nvCxnSpPr>
          <p:spPr bwMode="auto">
            <a:xfrm>
              <a:off x="4887894" y="2220894"/>
              <a:ext cx="511212" cy="526452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9839E5E-930A-481E-A3C2-CFEBE340EA76}"/>
                </a:ext>
              </a:extLst>
            </p:cNvPr>
            <p:cNvCxnSpPr>
              <a:cxnSpLocks/>
              <a:stCxn id="29" idx="6"/>
              <a:endCxn id="25" idx="0"/>
            </p:cNvCxnSpPr>
            <p:nvPr/>
          </p:nvCxnSpPr>
          <p:spPr bwMode="auto">
            <a:xfrm>
              <a:off x="4968240" y="2026920"/>
              <a:ext cx="2072640" cy="1255227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A1CF96E-3825-462F-93C6-F814F617691D}"/>
                </a:ext>
              </a:extLst>
            </p:cNvPr>
            <p:cNvCxnSpPr>
              <a:cxnSpLocks/>
              <a:stCxn id="29" idx="3"/>
              <a:endCxn id="23" idx="0"/>
            </p:cNvCxnSpPr>
            <p:nvPr/>
          </p:nvCxnSpPr>
          <p:spPr bwMode="auto">
            <a:xfrm flipH="1">
              <a:off x="4008120" y="2220894"/>
              <a:ext cx="491826" cy="106125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E7BB378-AA2E-48BA-832D-41352FC781E5}"/>
                </a:ext>
              </a:extLst>
            </p:cNvPr>
            <p:cNvCxnSpPr>
              <a:cxnSpLocks/>
              <a:stCxn id="26" idx="3"/>
              <a:endCxn id="24" idx="0"/>
            </p:cNvCxnSpPr>
            <p:nvPr/>
          </p:nvCxnSpPr>
          <p:spPr bwMode="auto">
            <a:xfrm flipH="1">
              <a:off x="4693920" y="3135294"/>
              <a:ext cx="705186" cy="1650066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EDBF652-C02C-4A77-B1CE-116BB80CAF61}"/>
                </a:ext>
              </a:extLst>
            </p:cNvPr>
            <p:cNvCxnSpPr>
              <a:cxnSpLocks/>
              <a:stCxn id="25" idx="4"/>
              <a:endCxn id="24" idx="6"/>
            </p:cNvCxnSpPr>
            <p:nvPr/>
          </p:nvCxnSpPr>
          <p:spPr bwMode="auto">
            <a:xfrm flipH="1">
              <a:off x="4968240" y="3830787"/>
              <a:ext cx="2072640" cy="122889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F4FA8BD-67E3-43E2-B930-7551526B0E14}"/>
                </a:ext>
              </a:extLst>
            </p:cNvPr>
            <p:cNvCxnSpPr>
              <a:cxnSpLocks/>
              <a:stCxn id="27" idx="5"/>
              <a:endCxn id="24" idx="2"/>
            </p:cNvCxnSpPr>
            <p:nvPr/>
          </p:nvCxnSpPr>
          <p:spPr bwMode="auto">
            <a:xfrm>
              <a:off x="2982894" y="3744521"/>
              <a:ext cx="1436706" cy="131515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1EF42D5-B29F-412B-AFBE-247FE1F0BC2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733800" y="3282147"/>
              <a:ext cx="548640" cy="548640"/>
            </a:xfrm>
            <a:prstGeom prst="ellipse">
              <a:avLst/>
            </a:prstGeom>
            <a:solidFill>
              <a:srgbClr val="00B0F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B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EAB9109-8166-492E-9817-7F781A78534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419600" y="4785360"/>
              <a:ext cx="548640" cy="54864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lang="en-US" b="1" dirty="0"/>
                <a:t>C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2AFB0A2-3662-4C0F-84E4-43BE2DA187AA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6560" y="3282147"/>
              <a:ext cx="548640" cy="548640"/>
            </a:xfrm>
            <a:prstGeom prst="ellipse">
              <a:avLst/>
            </a:prstGeom>
            <a:solidFill>
              <a:srgbClr val="00B0F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lang="en-US" b="1" dirty="0"/>
                <a:t>F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EE6DA27-A95F-4605-B87F-12D1CDD47AA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18760" y="2667000"/>
              <a:ext cx="548640" cy="548640"/>
            </a:xfrm>
            <a:prstGeom prst="ellipse">
              <a:avLst/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D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0C6BC20-1CD5-4C9D-8F75-B48427C17F2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514600" y="3276227"/>
              <a:ext cx="548640" cy="548640"/>
            </a:xfrm>
            <a:prstGeom prst="ellipse">
              <a:avLst/>
            </a:prstGeom>
            <a:solidFill>
              <a:srgbClr val="FFC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G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9AAB23F-DCE9-4F18-9977-A8C3F30CB00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4419600" y="1752600"/>
              <a:ext cx="548640" cy="548640"/>
            </a:xfrm>
            <a:prstGeom prst="ellipse">
              <a:avLst/>
            </a:prstGeom>
            <a:solidFill>
              <a:srgbClr val="FF000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lang="en-US" b="1" dirty="0"/>
                <a:t>A</a:t>
              </a:r>
              <a:endParaRPr kumimoji="0" lang="en-US" sz="40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</a:endParaRP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F45A9F8-DB53-4BB9-93C0-0A2B4BC98CF7}"/>
                </a:ext>
              </a:extLst>
            </p:cNvPr>
            <p:cNvCxnSpPr>
              <a:cxnSpLocks/>
              <a:stCxn id="27" idx="7"/>
              <a:endCxn id="29" idx="2"/>
            </p:cNvCxnSpPr>
            <p:nvPr/>
          </p:nvCxnSpPr>
          <p:spPr bwMode="auto">
            <a:xfrm flipV="1">
              <a:off x="2982894" y="2026920"/>
              <a:ext cx="1436706" cy="132965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42D9B17-8146-4D09-891B-22E53111061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318760" y="3870960"/>
              <a:ext cx="548640" cy="548640"/>
            </a:xfrm>
            <a:prstGeom prst="ellipse">
              <a:avLst/>
            </a:prstGeom>
            <a:solidFill>
              <a:srgbClr val="7030A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0" tIns="0" rIns="0" bIns="0" numCol="1" rtlCol="0" anchor="b" anchorCtr="1" compatLnSpc="1">
              <a:prstTxWarp prst="textNoShape">
                <a:avLst/>
              </a:prstTxWarp>
            </a:bodyPr>
            <a:lstStyle/>
            <a:p>
              <a:pPr marR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None/>
                <a:tabLst/>
              </a:pPr>
              <a:r>
                <a:rPr kumimoji="0" lang="en-US" sz="28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E</a:t>
              </a:r>
              <a:endParaRPr kumimoji="0" lang="en-US" sz="2800" b="1" i="0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EF453B94-41AE-47D9-B6F5-6CA192A152F4}"/>
                </a:ext>
              </a:extLst>
            </p:cNvPr>
            <p:cNvCxnSpPr>
              <a:cxnSpLocks/>
              <a:stCxn id="23" idx="7"/>
              <a:endCxn id="26" idx="2"/>
            </p:cNvCxnSpPr>
            <p:nvPr/>
          </p:nvCxnSpPr>
          <p:spPr bwMode="auto">
            <a:xfrm flipV="1">
              <a:off x="4202094" y="2941320"/>
              <a:ext cx="1116666" cy="42117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37DF07C-D6FD-4714-96B0-FF52672051DC}"/>
                </a:ext>
              </a:extLst>
            </p:cNvPr>
            <p:cNvCxnSpPr>
              <a:cxnSpLocks/>
              <a:stCxn id="23" idx="5"/>
              <a:endCxn id="36" idx="2"/>
            </p:cNvCxnSpPr>
            <p:nvPr/>
          </p:nvCxnSpPr>
          <p:spPr bwMode="auto">
            <a:xfrm>
              <a:off x="4202094" y="3750441"/>
              <a:ext cx="1116666" cy="39483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25212A8-9C67-46F6-B228-63D6B3395D2A}"/>
                </a:ext>
              </a:extLst>
            </p:cNvPr>
            <p:cNvCxnSpPr>
              <a:cxnSpLocks/>
              <a:stCxn id="24" idx="7"/>
              <a:endCxn id="36" idx="3"/>
            </p:cNvCxnSpPr>
            <p:nvPr/>
          </p:nvCxnSpPr>
          <p:spPr bwMode="auto">
            <a:xfrm flipV="1">
              <a:off x="4887894" y="4339254"/>
              <a:ext cx="511212" cy="526452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0CD66C3-107D-49B8-809F-4C7E8D12ED19}"/>
                </a:ext>
              </a:extLst>
            </p:cNvPr>
            <p:cNvCxnSpPr>
              <a:cxnSpLocks/>
              <a:stCxn id="29" idx="4"/>
              <a:endCxn id="36" idx="1"/>
            </p:cNvCxnSpPr>
            <p:nvPr/>
          </p:nvCxnSpPr>
          <p:spPr bwMode="auto">
            <a:xfrm>
              <a:off x="4693920" y="2301240"/>
              <a:ext cx="705186" cy="1650066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B36F192-D2F0-4972-8040-1167A7F4C900}"/>
                </a:ext>
              </a:extLst>
            </p:cNvPr>
            <p:cNvCxnSpPr>
              <a:cxnSpLocks/>
              <a:stCxn id="36" idx="6"/>
              <a:endCxn id="25" idx="3"/>
            </p:cNvCxnSpPr>
            <p:nvPr/>
          </p:nvCxnSpPr>
          <p:spPr bwMode="auto">
            <a:xfrm flipV="1">
              <a:off x="5867400" y="3750441"/>
              <a:ext cx="979506" cy="394839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27C5DB4-35AC-4B33-90CE-3EFCFC0EA79F}"/>
                </a:ext>
              </a:extLst>
            </p:cNvPr>
            <p:cNvCxnSpPr>
              <a:cxnSpLocks/>
              <a:stCxn id="26" idx="6"/>
              <a:endCxn id="25" idx="1"/>
            </p:cNvCxnSpPr>
            <p:nvPr/>
          </p:nvCxnSpPr>
          <p:spPr bwMode="auto">
            <a:xfrm>
              <a:off x="5867400" y="2941320"/>
              <a:ext cx="979506" cy="421173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42CB0EA-99B8-47DD-8BDB-88CF9960BA09}"/>
                </a:ext>
              </a:extLst>
            </p:cNvPr>
            <p:cNvCxnSpPr>
              <a:cxnSpLocks/>
              <a:stCxn id="26" idx="4"/>
              <a:endCxn id="36" idx="0"/>
            </p:cNvCxnSpPr>
            <p:nvPr/>
          </p:nvCxnSpPr>
          <p:spPr bwMode="auto">
            <a:xfrm>
              <a:off x="5593080" y="3215640"/>
              <a:ext cx="0" cy="655320"/>
            </a:xfrm>
            <a:prstGeom prst="line">
              <a:avLst/>
            </a:prstGeom>
            <a:noFill/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0A27D8A-0BD1-4152-9D2F-F83DEA62E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84" y="5232549"/>
            <a:ext cx="88392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4241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Jones-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Plassmann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Parallel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dirty="0"/>
              <a:t>Many </a:t>
            </a:r>
            <a:r>
              <a:rPr lang="en-US" dirty="0">
                <a:solidFill>
                  <a:srgbClr val="0070C0"/>
                </a:solidFill>
              </a:rPr>
              <a:t>parallel</a:t>
            </a:r>
            <a:r>
              <a:rPr lang="en-US" dirty="0"/>
              <a:t> graph coloring</a:t>
            </a:r>
            <a:br>
              <a:rPr lang="en-US" dirty="0"/>
            </a:br>
            <a:r>
              <a:rPr lang="en-US" dirty="0"/>
              <a:t>algorithms follow JP approach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Initialization step</a:t>
            </a:r>
          </a:p>
          <a:p>
            <a:pPr lvl="1"/>
            <a:r>
              <a:rPr lang="en-US" dirty="0"/>
              <a:t>Compute direction of edges</a:t>
            </a:r>
          </a:p>
          <a:p>
            <a:pPr lvl="2"/>
            <a:r>
              <a:rPr lang="en-US" dirty="0"/>
              <a:t>Based on a priority heuristic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Parallel computation steps</a:t>
            </a:r>
          </a:p>
          <a:p>
            <a:pPr lvl="1"/>
            <a:r>
              <a:rPr lang="en-US" dirty="0"/>
              <a:t>Check every uncolored vertex</a:t>
            </a:r>
          </a:p>
          <a:p>
            <a:pPr lvl="1"/>
            <a:r>
              <a:rPr lang="en-US" dirty="0"/>
              <a:t>Color ready vertices with </a:t>
            </a:r>
            <a:r>
              <a:rPr lang="en-US" dirty="0">
                <a:solidFill>
                  <a:srgbClr val="0070C0"/>
                </a:solidFill>
              </a:rPr>
              <a:t>best possible color</a:t>
            </a:r>
          </a:p>
          <a:p>
            <a:pPr lvl="1"/>
            <a:r>
              <a:rPr lang="en-US" dirty="0"/>
              <a:t>Repeat until entire graph has been colored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0DB905B-BE92-4265-9829-9E62DC969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989" y="1802551"/>
            <a:ext cx="2978058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1199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/>
              <a:t>In JP, each vertex has list of </a:t>
            </a:r>
            <a:r>
              <a:rPr lang="en-US" i="1" dirty="0"/>
              <a:t>k</a:t>
            </a:r>
            <a:r>
              <a:rPr lang="en-US" dirty="0"/>
              <a:t>+1 </a:t>
            </a:r>
            <a:r>
              <a:rPr lang="en-US" dirty="0">
                <a:solidFill>
                  <a:srgbClr val="0070C0"/>
                </a:solidFill>
              </a:rPr>
              <a:t>possible colors</a:t>
            </a:r>
            <a:endParaRPr lang="en-US" dirty="0"/>
          </a:p>
          <a:p>
            <a:pPr lvl="1">
              <a:spcBef>
                <a:spcPts val="300"/>
              </a:spcBef>
            </a:pPr>
            <a:r>
              <a:rPr lang="en-US" i="1" dirty="0"/>
              <a:t>k</a:t>
            </a:r>
            <a:r>
              <a:rPr lang="en-US" dirty="0"/>
              <a:t> is number of higher-priority neighbors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When neighbor is colored, that color is deleted from list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Vertex is ultimately colored with best remaining color</a:t>
            </a:r>
          </a:p>
          <a:p>
            <a:r>
              <a:rPr lang="en-US" dirty="0"/>
              <a:t>JP often uses </a:t>
            </a:r>
            <a:r>
              <a:rPr lang="en-US" dirty="0">
                <a:solidFill>
                  <a:srgbClr val="FF0000"/>
                </a:solidFill>
              </a:rPr>
              <a:t>bitmaps</a:t>
            </a:r>
            <a:r>
              <a:rPr lang="en-US" dirty="0"/>
              <a:t> for implementing these lists</a:t>
            </a:r>
          </a:p>
          <a:p>
            <a:pPr lvl="1"/>
            <a:r>
              <a:rPr lang="en-US" dirty="0"/>
              <a:t>Each bit represents one color</a:t>
            </a:r>
          </a:p>
          <a:p>
            <a:pPr lvl="2"/>
            <a:r>
              <a:rPr lang="en-US" dirty="0"/>
              <a:t>“1” means the color is still possible</a:t>
            </a:r>
          </a:p>
          <a:p>
            <a:pPr lvl="2"/>
            <a:r>
              <a:rPr lang="en-US" dirty="0"/>
              <a:t>“0” means the color is not available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64D632-895A-4F22-AA90-A8F4C9ABD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84" y="5330952"/>
            <a:ext cx="8839200" cy="46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4E6F4A-319A-6C4B-8862-8E4B53152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3221" y="3685032"/>
            <a:ext cx="224357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03171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/>
              <a:t>In JP, each vertex has list of </a:t>
            </a:r>
            <a:r>
              <a:rPr lang="en-US" i="1" dirty="0"/>
              <a:t>k</a:t>
            </a:r>
            <a:r>
              <a:rPr lang="en-US" dirty="0"/>
              <a:t>+1 </a:t>
            </a:r>
            <a:r>
              <a:rPr lang="en-US" dirty="0">
                <a:solidFill>
                  <a:srgbClr val="0070C0"/>
                </a:solidFill>
              </a:rPr>
              <a:t>possible colors</a:t>
            </a:r>
            <a:endParaRPr lang="en-US" dirty="0"/>
          </a:p>
          <a:p>
            <a:pPr lvl="1">
              <a:spcBef>
                <a:spcPts val="300"/>
              </a:spcBef>
            </a:pPr>
            <a:r>
              <a:rPr lang="en-US" i="1" dirty="0"/>
              <a:t>k</a:t>
            </a:r>
            <a:r>
              <a:rPr lang="en-US" dirty="0"/>
              <a:t> is number of higher-priority neighbors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When neighbor is colored, that color is deleted from list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Vertex is ultimately colored with best remaining color</a:t>
            </a:r>
          </a:p>
          <a:p>
            <a:r>
              <a:rPr lang="en-US" dirty="0"/>
              <a:t>JP often uses </a:t>
            </a:r>
            <a:r>
              <a:rPr lang="en-US" dirty="0">
                <a:solidFill>
                  <a:srgbClr val="FF0000"/>
                </a:solidFill>
              </a:rPr>
              <a:t>bitmaps</a:t>
            </a:r>
            <a:r>
              <a:rPr lang="en-US" dirty="0"/>
              <a:t> for implementing these lists</a:t>
            </a:r>
          </a:p>
          <a:p>
            <a:pPr lvl="1"/>
            <a:r>
              <a:rPr lang="en-US" dirty="0"/>
              <a:t>Each bit represents one color</a:t>
            </a:r>
          </a:p>
          <a:p>
            <a:pPr lvl="2"/>
            <a:r>
              <a:rPr lang="en-US" dirty="0"/>
              <a:t>“1” means the color is still possible</a:t>
            </a:r>
          </a:p>
          <a:p>
            <a:pPr lvl="2"/>
            <a:r>
              <a:rPr lang="en-US" dirty="0"/>
              <a:t>“0” means the color is not available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64D632-895A-4F22-AA90-A8F4C9ABD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84" y="5330952"/>
            <a:ext cx="88392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A9CFF5-505D-8E4E-9FA2-7AA6D7E346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520" y="3685032"/>
            <a:ext cx="224357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05159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/>
              <a:t>In JP, each vertex has list of </a:t>
            </a:r>
            <a:r>
              <a:rPr lang="en-US" i="1" dirty="0"/>
              <a:t>k</a:t>
            </a:r>
            <a:r>
              <a:rPr lang="en-US" dirty="0"/>
              <a:t>+1 </a:t>
            </a:r>
            <a:r>
              <a:rPr lang="en-US" dirty="0">
                <a:solidFill>
                  <a:srgbClr val="0070C0"/>
                </a:solidFill>
              </a:rPr>
              <a:t>possible colors</a:t>
            </a:r>
            <a:endParaRPr lang="en-US" dirty="0"/>
          </a:p>
          <a:p>
            <a:pPr lvl="1">
              <a:spcBef>
                <a:spcPts val="300"/>
              </a:spcBef>
            </a:pPr>
            <a:r>
              <a:rPr lang="en-US" i="1" dirty="0"/>
              <a:t>k</a:t>
            </a:r>
            <a:r>
              <a:rPr lang="en-US" dirty="0"/>
              <a:t> is number of higher-priority neighbors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When neighbor is colored, that color is deleted from list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Vertex is ultimately colored with best remaining color</a:t>
            </a:r>
          </a:p>
          <a:p>
            <a:r>
              <a:rPr lang="en-US" dirty="0"/>
              <a:t>JP often uses </a:t>
            </a:r>
            <a:r>
              <a:rPr lang="en-US" dirty="0">
                <a:solidFill>
                  <a:srgbClr val="FF0000"/>
                </a:solidFill>
              </a:rPr>
              <a:t>bitmaps</a:t>
            </a:r>
            <a:r>
              <a:rPr lang="en-US" dirty="0"/>
              <a:t> for implementing these lists</a:t>
            </a:r>
          </a:p>
          <a:p>
            <a:pPr lvl="1"/>
            <a:r>
              <a:rPr lang="en-US" dirty="0"/>
              <a:t>Each bit represents one color</a:t>
            </a:r>
          </a:p>
          <a:p>
            <a:pPr lvl="2"/>
            <a:r>
              <a:rPr lang="en-US" dirty="0"/>
              <a:t>“1” means the color is still possible</a:t>
            </a:r>
          </a:p>
          <a:p>
            <a:pPr lvl="2"/>
            <a:r>
              <a:rPr lang="en-US" dirty="0"/>
              <a:t>“0” means the color is not available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64D632-895A-4F22-AA90-A8F4C9ABD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84" y="5330952"/>
            <a:ext cx="88392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88EDDD-67D9-564F-8519-E9134B94B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520" y="3685032"/>
            <a:ext cx="224357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2126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/>
              <a:t>In JP, each vertex has list of </a:t>
            </a:r>
            <a:r>
              <a:rPr lang="en-US" i="1" dirty="0"/>
              <a:t>k</a:t>
            </a:r>
            <a:r>
              <a:rPr lang="en-US" dirty="0"/>
              <a:t>+1 </a:t>
            </a:r>
            <a:r>
              <a:rPr lang="en-US" dirty="0">
                <a:solidFill>
                  <a:srgbClr val="0070C0"/>
                </a:solidFill>
              </a:rPr>
              <a:t>possible colors</a:t>
            </a:r>
            <a:endParaRPr lang="en-US" dirty="0"/>
          </a:p>
          <a:p>
            <a:pPr lvl="1">
              <a:spcBef>
                <a:spcPts val="300"/>
              </a:spcBef>
            </a:pPr>
            <a:r>
              <a:rPr lang="en-US" i="1" dirty="0"/>
              <a:t>k</a:t>
            </a:r>
            <a:r>
              <a:rPr lang="en-US" dirty="0"/>
              <a:t> is number of higher-priority neighbors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When neighbor is colored, that color is deleted from list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Vertex is ultimately colored with best remaining color</a:t>
            </a:r>
          </a:p>
          <a:p>
            <a:r>
              <a:rPr lang="en-US" dirty="0"/>
              <a:t>JP often uses </a:t>
            </a:r>
            <a:r>
              <a:rPr lang="en-US" dirty="0">
                <a:solidFill>
                  <a:srgbClr val="FF0000"/>
                </a:solidFill>
              </a:rPr>
              <a:t>bitmaps</a:t>
            </a:r>
            <a:r>
              <a:rPr lang="en-US" dirty="0"/>
              <a:t> for implementing these lists</a:t>
            </a:r>
          </a:p>
          <a:p>
            <a:pPr lvl="1"/>
            <a:r>
              <a:rPr lang="en-US" dirty="0"/>
              <a:t>Each bit represents one color</a:t>
            </a:r>
          </a:p>
          <a:p>
            <a:pPr lvl="2"/>
            <a:r>
              <a:rPr lang="en-US" dirty="0"/>
              <a:t>“1” means the color is still possible</a:t>
            </a:r>
          </a:p>
          <a:p>
            <a:pPr lvl="2"/>
            <a:r>
              <a:rPr lang="en-US" dirty="0"/>
              <a:t>“0” means the color is not available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64D632-895A-4F22-AA90-A8F4C9ABD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84" y="5330952"/>
            <a:ext cx="88392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5BE214-A8A8-CA40-AB08-D0B23E17E0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520" y="3685032"/>
            <a:ext cx="224357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2303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/>
              <a:t>In JP, each vertex has list of </a:t>
            </a:r>
            <a:r>
              <a:rPr lang="en-US" i="1" dirty="0"/>
              <a:t>k</a:t>
            </a:r>
            <a:r>
              <a:rPr lang="en-US" dirty="0"/>
              <a:t>+1 </a:t>
            </a:r>
            <a:r>
              <a:rPr lang="en-US" dirty="0">
                <a:solidFill>
                  <a:srgbClr val="0070C0"/>
                </a:solidFill>
              </a:rPr>
              <a:t>possible colors</a:t>
            </a:r>
            <a:endParaRPr lang="en-US" dirty="0"/>
          </a:p>
          <a:p>
            <a:pPr lvl="1">
              <a:spcBef>
                <a:spcPts val="300"/>
              </a:spcBef>
            </a:pPr>
            <a:r>
              <a:rPr lang="en-US" i="1" dirty="0"/>
              <a:t>k</a:t>
            </a:r>
            <a:r>
              <a:rPr lang="en-US" dirty="0"/>
              <a:t> is number of higher-priority neighbors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When neighbor is colored, that color is deleted from list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Vertex is ultimately colored with best remaining color</a:t>
            </a:r>
          </a:p>
          <a:p>
            <a:r>
              <a:rPr lang="en-US" dirty="0"/>
              <a:t>JP often uses </a:t>
            </a:r>
            <a:r>
              <a:rPr lang="en-US" dirty="0">
                <a:solidFill>
                  <a:srgbClr val="FF0000"/>
                </a:solidFill>
              </a:rPr>
              <a:t>bitmaps</a:t>
            </a:r>
            <a:r>
              <a:rPr lang="en-US" dirty="0"/>
              <a:t> for implementing these lists</a:t>
            </a:r>
          </a:p>
          <a:p>
            <a:pPr lvl="1"/>
            <a:r>
              <a:rPr lang="en-US" dirty="0"/>
              <a:t>Each bit represents one color</a:t>
            </a:r>
          </a:p>
          <a:p>
            <a:pPr lvl="2"/>
            <a:r>
              <a:rPr lang="en-US" dirty="0"/>
              <a:t>“1” means the color is still possible</a:t>
            </a:r>
          </a:p>
          <a:p>
            <a:pPr lvl="2"/>
            <a:r>
              <a:rPr lang="en-US" dirty="0"/>
              <a:t>“0” means the color is not available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64D632-895A-4F22-AA90-A8F4C9ABD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84" y="5330952"/>
            <a:ext cx="88392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CCF36F-8BEF-DE4B-8280-74F0993509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520" y="3685032"/>
            <a:ext cx="224357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95167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/>
              <a:t>In JP, each vertex has list of </a:t>
            </a:r>
            <a:r>
              <a:rPr lang="en-US" i="1" dirty="0"/>
              <a:t>k</a:t>
            </a:r>
            <a:r>
              <a:rPr lang="en-US" dirty="0"/>
              <a:t>+1 </a:t>
            </a:r>
            <a:r>
              <a:rPr lang="en-US" dirty="0">
                <a:solidFill>
                  <a:srgbClr val="0070C0"/>
                </a:solidFill>
              </a:rPr>
              <a:t>possible colors</a:t>
            </a:r>
            <a:endParaRPr lang="en-US" dirty="0"/>
          </a:p>
          <a:p>
            <a:pPr lvl="1">
              <a:spcBef>
                <a:spcPts val="300"/>
              </a:spcBef>
            </a:pPr>
            <a:r>
              <a:rPr lang="en-US" i="1" dirty="0"/>
              <a:t>k</a:t>
            </a:r>
            <a:r>
              <a:rPr lang="en-US" dirty="0"/>
              <a:t> is number of higher-priority neighbors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When neighbor is colored, that color is deleted from list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Vertex is ultimately colored with best remaining color</a:t>
            </a:r>
          </a:p>
          <a:p>
            <a:r>
              <a:rPr lang="en-US" dirty="0"/>
              <a:t>JP often uses </a:t>
            </a:r>
            <a:r>
              <a:rPr lang="en-US" dirty="0">
                <a:solidFill>
                  <a:srgbClr val="FF0000"/>
                </a:solidFill>
              </a:rPr>
              <a:t>bitmaps</a:t>
            </a:r>
            <a:r>
              <a:rPr lang="en-US" dirty="0"/>
              <a:t> for implementing these lists</a:t>
            </a:r>
          </a:p>
          <a:p>
            <a:pPr lvl="1"/>
            <a:r>
              <a:rPr lang="en-US" dirty="0"/>
              <a:t>Each bit represents one color</a:t>
            </a:r>
          </a:p>
          <a:p>
            <a:pPr lvl="2"/>
            <a:r>
              <a:rPr lang="en-US" dirty="0"/>
              <a:t>“1” means the color is still possible</a:t>
            </a:r>
          </a:p>
          <a:p>
            <a:pPr lvl="2"/>
            <a:r>
              <a:rPr lang="en-US" dirty="0"/>
              <a:t>“0” means the color is not available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64D632-895A-4F22-AA90-A8F4C9ABD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84" y="5330952"/>
            <a:ext cx="8839200" cy="469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1DB2E1-A387-A241-A175-C989A19E1A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520" y="3685032"/>
            <a:ext cx="224357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6583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Colors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/>
              <a:t>In JP, each vertex has list of </a:t>
            </a:r>
            <a:r>
              <a:rPr lang="en-US" i="1" dirty="0"/>
              <a:t>k</a:t>
            </a:r>
            <a:r>
              <a:rPr lang="en-US" dirty="0"/>
              <a:t>+1 </a:t>
            </a:r>
            <a:r>
              <a:rPr lang="en-US" dirty="0">
                <a:solidFill>
                  <a:srgbClr val="0070C0"/>
                </a:solidFill>
              </a:rPr>
              <a:t>possible colors</a:t>
            </a:r>
            <a:endParaRPr lang="en-US" dirty="0"/>
          </a:p>
          <a:p>
            <a:pPr lvl="1">
              <a:spcBef>
                <a:spcPts val="300"/>
              </a:spcBef>
            </a:pPr>
            <a:r>
              <a:rPr lang="en-US" i="1" dirty="0"/>
              <a:t>k</a:t>
            </a:r>
            <a:r>
              <a:rPr lang="en-US" dirty="0"/>
              <a:t> is number of higher-priority neighbors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When neighbor is colored, that color is deleted from list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Vertex is ultimately colored with best remaining color</a:t>
            </a:r>
          </a:p>
          <a:p>
            <a:r>
              <a:rPr lang="en-US" dirty="0"/>
              <a:t>JP often uses </a:t>
            </a:r>
            <a:r>
              <a:rPr lang="en-US" dirty="0">
                <a:solidFill>
                  <a:srgbClr val="FF0000"/>
                </a:solidFill>
              </a:rPr>
              <a:t>bitmaps</a:t>
            </a:r>
            <a:r>
              <a:rPr lang="en-US" dirty="0"/>
              <a:t> for implementing these lists</a:t>
            </a:r>
          </a:p>
          <a:p>
            <a:pPr lvl="1"/>
            <a:r>
              <a:rPr lang="en-US" dirty="0"/>
              <a:t>Each bit represents one color</a:t>
            </a:r>
          </a:p>
          <a:p>
            <a:pPr lvl="2"/>
            <a:r>
              <a:rPr lang="en-US" dirty="0"/>
              <a:t>“1” means the color is still possible</a:t>
            </a:r>
          </a:p>
          <a:p>
            <a:pPr lvl="2"/>
            <a:r>
              <a:rPr lang="en-US" dirty="0"/>
              <a:t>“0” means the color is not available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64D632-895A-4F22-AA90-A8F4C9ABD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84" y="5330952"/>
            <a:ext cx="88392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286A55-8F6D-EE47-94AA-AB1B44329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520" y="3685032"/>
            <a:ext cx="2243579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776998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Jones-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Plassmann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rgbClr val="0070C0"/>
                </a:solidFill>
              </a:rPr>
              <a:t>Initialization step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Compute </a:t>
            </a:r>
            <a:r>
              <a:rPr lang="en-US" dirty="0">
                <a:solidFill>
                  <a:srgbClr val="FF0000"/>
                </a:solidFill>
              </a:rPr>
              <a:t>direction</a:t>
            </a:r>
            <a:r>
              <a:rPr lang="en-US" dirty="0"/>
              <a:t> of each edge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Based on LDF heuristic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Initialize bitmaps</a:t>
            </a:r>
          </a:p>
          <a:p>
            <a:pPr>
              <a:spcBef>
                <a:spcPts val="600"/>
              </a:spcBef>
            </a:pPr>
            <a:r>
              <a:rPr lang="en-US" dirty="0"/>
              <a:t>Operation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Go from higher to lower degree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Use alphabetic ordering to break ties</a:t>
            </a:r>
          </a:p>
          <a:p>
            <a:pPr>
              <a:spcBef>
                <a:spcPts val="600"/>
              </a:spcBef>
            </a:pPr>
            <a:r>
              <a:rPr lang="en-US" dirty="0"/>
              <a:t>Result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Turns graph into </a:t>
            </a:r>
            <a:r>
              <a:rPr lang="en-US" dirty="0">
                <a:solidFill>
                  <a:srgbClr val="0070C0"/>
                </a:solidFill>
              </a:rPr>
              <a:t>DAG</a:t>
            </a:r>
            <a:r>
              <a:rPr lang="en-US" dirty="0"/>
              <a:t>; already colors vertex A “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159FD87-29BF-6141-978E-31CFF2FF40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984" y="1499507"/>
            <a:ext cx="4681067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6099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Jones-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Plassmann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Computation step 1</a:t>
            </a:r>
          </a:p>
          <a:p>
            <a:pPr lvl="1"/>
            <a:r>
              <a:rPr lang="en-US" dirty="0"/>
              <a:t>Check every uncolored vertex </a:t>
            </a:r>
          </a:p>
          <a:p>
            <a:pPr lvl="1"/>
            <a:r>
              <a:rPr lang="en-US" dirty="0"/>
              <a:t>Color ready vertices</a:t>
            </a:r>
          </a:p>
          <a:p>
            <a:pPr lvl="4"/>
            <a:endParaRPr lang="en-US" dirty="0"/>
          </a:p>
          <a:p>
            <a:r>
              <a:rPr lang="en-US" dirty="0"/>
              <a:t>Operation</a:t>
            </a:r>
          </a:p>
          <a:p>
            <a:pPr lvl="1"/>
            <a:r>
              <a:rPr lang="en-US" dirty="0"/>
              <a:t>Neighbors of A clear “red” bit</a:t>
            </a:r>
          </a:p>
          <a:p>
            <a:pPr lvl="1"/>
            <a:r>
              <a:rPr lang="en-US" dirty="0"/>
              <a:t>Vertex B is ready</a:t>
            </a:r>
          </a:p>
          <a:p>
            <a:pPr lvl="1"/>
            <a:r>
              <a:rPr lang="en-US" dirty="0"/>
              <a:t>Color vertex B “</a:t>
            </a:r>
            <a:r>
              <a:rPr lang="en-US" b="1" dirty="0">
                <a:solidFill>
                  <a:srgbClr val="00B0F0"/>
                </a:solidFill>
              </a:rPr>
              <a:t>blue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2BEC098-4C2B-2E47-9430-0CC360B11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5309282"/>
            <a:ext cx="88392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D8F21D-34E0-DE42-8B7A-94145EF89F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984" y="1499616"/>
            <a:ext cx="4681067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3955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Jones-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Plassmann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Computation step 2</a:t>
            </a:r>
          </a:p>
          <a:p>
            <a:pPr lvl="1"/>
            <a:r>
              <a:rPr lang="en-US" dirty="0"/>
              <a:t>Check every uncolored vertex </a:t>
            </a:r>
          </a:p>
          <a:p>
            <a:pPr lvl="1"/>
            <a:r>
              <a:rPr lang="en-US" dirty="0"/>
              <a:t>Color ready vertices</a:t>
            </a:r>
          </a:p>
          <a:p>
            <a:pPr lvl="4"/>
            <a:endParaRPr lang="en-US" dirty="0"/>
          </a:p>
          <a:p>
            <a:r>
              <a:rPr lang="en-US" dirty="0"/>
              <a:t>Operation</a:t>
            </a:r>
          </a:p>
          <a:p>
            <a:pPr lvl="1"/>
            <a:r>
              <a:rPr lang="en-US" dirty="0"/>
              <a:t>Neighbors of B clear “blue” bit</a:t>
            </a:r>
          </a:p>
          <a:p>
            <a:pPr lvl="1"/>
            <a:r>
              <a:rPr lang="en-US" dirty="0"/>
              <a:t>Vertex C is ready</a:t>
            </a:r>
          </a:p>
          <a:p>
            <a:pPr lvl="1"/>
            <a:r>
              <a:rPr lang="en-US" dirty="0"/>
              <a:t>Color vertex C “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”</a:t>
            </a:r>
          </a:p>
          <a:p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02BB541-69E5-E74A-A600-4BB54D4A3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5309282"/>
            <a:ext cx="8839200" cy="469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4D5C8A9-A58D-EB4F-B014-B85BF9E725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984" y="1499616"/>
            <a:ext cx="4681067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80356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Jones-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Plassmann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Computation step 3</a:t>
            </a:r>
          </a:p>
          <a:p>
            <a:pPr lvl="1"/>
            <a:r>
              <a:rPr lang="en-US" dirty="0"/>
              <a:t>Check every uncolored vertex </a:t>
            </a:r>
          </a:p>
          <a:p>
            <a:pPr lvl="1"/>
            <a:r>
              <a:rPr lang="en-US" dirty="0"/>
              <a:t>Color ready vertices</a:t>
            </a:r>
          </a:p>
          <a:p>
            <a:pPr lvl="4"/>
            <a:endParaRPr lang="en-US" dirty="0"/>
          </a:p>
          <a:p>
            <a:r>
              <a:rPr lang="en-US" dirty="0"/>
              <a:t>Operation</a:t>
            </a:r>
          </a:p>
          <a:p>
            <a:pPr lvl="1"/>
            <a:r>
              <a:rPr lang="en-US" dirty="0"/>
              <a:t>Neighbors of C clear “red” bit</a:t>
            </a:r>
          </a:p>
          <a:p>
            <a:pPr lvl="1"/>
            <a:r>
              <a:rPr lang="en-US" dirty="0"/>
              <a:t>Vertices D &amp; G are ready</a:t>
            </a:r>
          </a:p>
          <a:p>
            <a:pPr lvl="1"/>
            <a:r>
              <a:rPr lang="en-US" dirty="0"/>
              <a:t>Color vertices D &amp; G “</a:t>
            </a:r>
            <a:r>
              <a:rPr lang="en-US" b="1" dirty="0">
                <a:solidFill>
                  <a:schemeClr val="accent2"/>
                </a:solidFill>
              </a:rPr>
              <a:t>orange</a:t>
            </a:r>
            <a:r>
              <a:rPr lang="en-US" dirty="0"/>
              <a:t>”</a:t>
            </a: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AB1D51-54FC-FB4D-9E5E-732473191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5309282"/>
            <a:ext cx="8839200" cy="46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CF161F-F713-1D45-85DE-FA48BF3221D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984" y="1499616"/>
            <a:ext cx="4681067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2709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Jones-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Plassmann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Computation step 4</a:t>
            </a:r>
          </a:p>
          <a:p>
            <a:pPr lvl="1"/>
            <a:r>
              <a:rPr lang="en-US" dirty="0"/>
              <a:t>Check every uncolored vertex </a:t>
            </a:r>
          </a:p>
          <a:p>
            <a:pPr lvl="1"/>
            <a:r>
              <a:rPr lang="en-US" dirty="0"/>
              <a:t>Color ready vertices</a:t>
            </a:r>
          </a:p>
          <a:p>
            <a:pPr lvl="4"/>
            <a:endParaRPr lang="en-US" dirty="0"/>
          </a:p>
          <a:p>
            <a:r>
              <a:rPr lang="en-US" dirty="0"/>
              <a:t>Operation</a:t>
            </a:r>
          </a:p>
          <a:p>
            <a:pPr lvl="1"/>
            <a:r>
              <a:rPr lang="en-US" dirty="0"/>
              <a:t>Neighbors of D &amp; G clear “orange” bit</a:t>
            </a:r>
          </a:p>
          <a:p>
            <a:pPr lvl="1"/>
            <a:r>
              <a:rPr lang="en-US" dirty="0"/>
              <a:t>Vertex E is ready</a:t>
            </a:r>
          </a:p>
          <a:p>
            <a:pPr lvl="1"/>
            <a:r>
              <a:rPr lang="en-US" dirty="0"/>
              <a:t>Color vertex E “</a:t>
            </a:r>
            <a:r>
              <a:rPr lang="en-US" b="1" dirty="0">
                <a:solidFill>
                  <a:srgbClr val="7030A0"/>
                </a:solidFill>
              </a:rPr>
              <a:t>purple</a:t>
            </a:r>
            <a:r>
              <a:rPr lang="en-US" dirty="0"/>
              <a:t>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AB1D51-54FC-FB4D-9E5E-732473191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5309282"/>
            <a:ext cx="88392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443AA0-40CA-384E-A95B-6E50F32020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984" y="1499616"/>
            <a:ext cx="4681067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7305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Jones-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</a:rPr>
              <a:t>Plassmann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Computation step 5</a:t>
            </a:r>
          </a:p>
          <a:p>
            <a:pPr lvl="1"/>
            <a:r>
              <a:rPr lang="en-US" dirty="0"/>
              <a:t>Check every uncolored vertex </a:t>
            </a:r>
          </a:p>
          <a:p>
            <a:pPr lvl="1"/>
            <a:r>
              <a:rPr lang="en-US" dirty="0"/>
              <a:t>Color ready vertices</a:t>
            </a:r>
          </a:p>
          <a:p>
            <a:pPr lvl="4"/>
            <a:endParaRPr lang="en-US" dirty="0"/>
          </a:p>
          <a:p>
            <a:r>
              <a:rPr lang="en-US" dirty="0"/>
              <a:t>Operation</a:t>
            </a:r>
          </a:p>
          <a:p>
            <a:pPr lvl="1"/>
            <a:r>
              <a:rPr lang="en-US" dirty="0"/>
              <a:t>Neighbors of E clear “purple” bit</a:t>
            </a:r>
          </a:p>
          <a:p>
            <a:pPr lvl="1"/>
            <a:r>
              <a:rPr lang="en-US" dirty="0"/>
              <a:t>Vertex F is ready</a:t>
            </a:r>
          </a:p>
          <a:p>
            <a:pPr lvl="1"/>
            <a:r>
              <a:rPr lang="en-US" dirty="0"/>
              <a:t>Color vertex F “</a:t>
            </a:r>
            <a:r>
              <a:rPr lang="en-US" b="1" dirty="0">
                <a:solidFill>
                  <a:srgbClr val="00B0F0"/>
                </a:solidFill>
              </a:rPr>
              <a:t>blue</a:t>
            </a:r>
            <a:r>
              <a:rPr lang="en-US" dirty="0"/>
              <a:t>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AB1D51-54FC-FB4D-9E5E-732473191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5309282"/>
            <a:ext cx="8839200" cy="469900"/>
          </a:xfrm>
          <a:prstGeom prst="rect">
            <a:avLst/>
          </a:prstGeom>
        </p:spPr>
      </p:pic>
      <p:sp>
        <p:nvSpPr>
          <p:cNvPr id="8" name="Rounded Rectangular Callout 6">
            <a:extLst>
              <a:ext uri="{FF2B5EF4-FFF2-40B4-BE49-F238E27FC236}">
                <a16:creationId xmlns:a16="http://schemas.microsoft.com/office/drawing/2014/main" id="{5929043C-CD0F-4AA3-90C0-9E7C8B0DC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840" y="4274354"/>
            <a:ext cx="3784714" cy="578605"/>
          </a:xfrm>
          <a:prstGeom prst="wedgeRoundRectCallout">
            <a:avLst>
              <a:gd name="adj1" fmla="val -11067"/>
              <a:gd name="adj2" fmla="val -6427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600" dirty="0"/>
              <a:t> JP terminates after </a:t>
            </a:r>
            <a:r>
              <a:rPr lang="en-US" sz="1600" dirty="0">
                <a:solidFill>
                  <a:srgbClr val="FF0000"/>
                </a:solidFill>
              </a:rPr>
              <a:t>5 steps</a:t>
            </a:r>
            <a:r>
              <a:rPr lang="en-US" sz="1600" dirty="0"/>
              <a:t> b/c longest dependence chain has 5 edges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544A96-2EDE-2043-B563-10F88CCF61C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984" y="1499616"/>
            <a:ext cx="4681067" cy="25603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9367575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600"/>
              </a:spcBef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600"/>
              </a:spcBef>
              <a:buNone/>
            </a:pPr>
            <a:endParaRPr lang="en-US" sz="2800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en-US" sz="6000" dirty="0">
                <a:solidFill>
                  <a:srgbClr val="0070C0"/>
                </a:solidFill>
              </a:rPr>
              <a:t>Our ECL-GC Algorithm with Shortcuts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0856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ECL-GC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/>
              <a:t>Our algorithm extends JP-LDF</a:t>
            </a:r>
          </a:p>
          <a:p>
            <a:pPr lvl="1">
              <a:spcBef>
                <a:spcPts val="0"/>
              </a:spcBef>
            </a:pPr>
            <a:r>
              <a:rPr lang="en-US" dirty="0"/>
              <a:t>JP-LDF tends to be fast and produces good colorings</a:t>
            </a:r>
          </a:p>
          <a:p>
            <a:pPr marL="57150" indent="0">
              <a:spcBef>
                <a:spcPts val="0"/>
              </a:spcBef>
              <a:buNone/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JP-LDF colors vertices with higher degrees first</a:t>
            </a:r>
          </a:p>
          <a:p>
            <a:pPr lvl="1">
              <a:spcBef>
                <a:spcPts val="0"/>
              </a:spcBef>
            </a:pPr>
            <a:r>
              <a:rPr lang="en-US" dirty="0"/>
              <a:t>Lower-degree vertices must </a:t>
            </a:r>
            <a:r>
              <a:rPr lang="en-US" dirty="0">
                <a:solidFill>
                  <a:srgbClr val="0070C0"/>
                </a:solidFill>
              </a:rPr>
              <a:t>wait → low parallelism</a:t>
            </a:r>
          </a:p>
          <a:p>
            <a:pPr lvl="1">
              <a:spcBef>
                <a:spcPts val="0"/>
              </a:spcBef>
            </a:pP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JP tends to exhibit limited parallelism  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Additional </a:t>
            </a:r>
            <a:r>
              <a:rPr lang="en-US" dirty="0">
                <a:solidFill>
                  <a:srgbClr val="FF0000"/>
                </a:solidFill>
              </a:rPr>
              <a:t>non-speculative</a:t>
            </a:r>
            <a:r>
              <a:rPr lang="en-US" dirty="0">
                <a:solidFill>
                  <a:srgbClr val="0070C0"/>
                </a:solidFill>
              </a:rPr>
              <a:t> parallelism </a:t>
            </a:r>
            <a:r>
              <a:rPr lang="en-US">
                <a:solidFill>
                  <a:srgbClr val="0070C0"/>
                </a:solidFill>
              </a:rPr>
              <a:t>may exist!</a:t>
            </a:r>
            <a:endParaRPr lang="en-US" dirty="0">
              <a:solidFill>
                <a:srgbClr val="0070C0"/>
              </a:solidFill>
            </a:endParaRPr>
          </a:p>
          <a:p>
            <a:pPr marL="457200" lvl="1" indent="0">
              <a:spcBef>
                <a:spcPts val="0"/>
              </a:spcBef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5715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26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3F74BE-A7A3-F046-A8D3-7C1CF4B67E7B}"/>
              </a:ext>
            </a:extLst>
          </p:cNvPr>
          <p:cNvCxnSpPr/>
          <p:nvPr/>
        </p:nvCxnSpPr>
        <p:spPr bwMode="auto">
          <a:xfrm>
            <a:off x="5474825" y="4027990"/>
            <a:ext cx="879676" cy="185195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557831693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ECL-GC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/>
              <a:t>ECL-GC exploits </a:t>
            </a:r>
            <a:r>
              <a:rPr lang="en-US" dirty="0">
                <a:solidFill>
                  <a:srgbClr val="0070C0"/>
                </a:solidFill>
              </a:rPr>
              <a:t>intermediate bitmap states</a:t>
            </a:r>
            <a:endParaRPr lang="en-US" dirty="0"/>
          </a:p>
          <a:p>
            <a:pPr lvl="1"/>
            <a:r>
              <a:rPr lang="en-US" dirty="0"/>
              <a:t>Based on systematic search of operations between adjacent vertices’ bitmaps</a:t>
            </a:r>
          </a:p>
          <a:p>
            <a:pPr lvl="1"/>
            <a:r>
              <a:rPr lang="en-US" dirty="0"/>
              <a:t>Found two cases that yield exploitable info (shortcuts)</a:t>
            </a:r>
          </a:p>
          <a:p>
            <a:pPr lvl="2"/>
            <a:r>
              <a:rPr lang="en-US" dirty="0"/>
              <a:t>See paper for derivation</a:t>
            </a:r>
          </a:p>
          <a:p>
            <a:pPr marL="457200" lvl="1" indent="0">
              <a:buNone/>
            </a:pPr>
            <a:endParaRPr lang="en-US" sz="2400" dirty="0"/>
          </a:p>
          <a:p>
            <a:pPr>
              <a:spcBef>
                <a:spcPts val="0"/>
              </a:spcBef>
            </a:pPr>
            <a:r>
              <a:rPr lang="en-US" dirty="0"/>
              <a:t>Our </a:t>
            </a:r>
            <a:r>
              <a:rPr lang="en-US" dirty="0">
                <a:solidFill>
                  <a:srgbClr val="FF0000"/>
                </a:solidFill>
              </a:rPr>
              <a:t>shortcuts</a:t>
            </a:r>
            <a:r>
              <a:rPr lang="en-US" dirty="0"/>
              <a:t> minimize the waiting</a:t>
            </a:r>
          </a:p>
          <a:p>
            <a:pPr lvl="1">
              <a:spcBef>
                <a:spcPts val="0"/>
              </a:spcBef>
            </a:pPr>
            <a:r>
              <a:rPr lang="en-US" dirty="0"/>
              <a:t>Break dependences to increase parallelism</a:t>
            </a:r>
          </a:p>
          <a:p>
            <a:pPr lvl="1"/>
            <a:r>
              <a:rPr lang="en-US" dirty="0"/>
              <a:t>Guarantee same final coloring as JP-LDF</a:t>
            </a:r>
            <a:endParaRPr lang="en-US" dirty="0">
              <a:solidFill>
                <a:srgbClr val="0070C0"/>
              </a:solidFill>
            </a:endParaRP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27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3F74BE-A7A3-F046-A8D3-7C1CF4B67E7B}"/>
              </a:ext>
            </a:extLst>
          </p:cNvPr>
          <p:cNvCxnSpPr/>
          <p:nvPr/>
        </p:nvCxnSpPr>
        <p:spPr bwMode="auto">
          <a:xfrm>
            <a:off x="5474825" y="4027990"/>
            <a:ext cx="879676" cy="185195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55930371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Shortcut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A vertex can be colored with its best possible color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As soon as </a:t>
            </a:r>
            <a:r>
              <a:rPr lang="en-US" dirty="0">
                <a:solidFill>
                  <a:srgbClr val="0070C0"/>
                </a:solidFill>
              </a:rPr>
              <a:t>all uncolored higher-priority neighbors are no longer considering that color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C2C789-56D6-C949-B656-6A96F1901E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5312330"/>
            <a:ext cx="8839200" cy="469900"/>
          </a:xfrm>
          <a:prstGeom prst="rect">
            <a:avLst/>
          </a:prstGeom>
        </p:spPr>
      </p:pic>
      <p:sp>
        <p:nvSpPr>
          <p:cNvPr id="22" name="Rounded Rectangular Callout 6">
            <a:extLst>
              <a:ext uri="{FF2B5EF4-FFF2-40B4-BE49-F238E27FC236}">
                <a16:creationId xmlns:a16="http://schemas.microsoft.com/office/drawing/2014/main" id="{D0042E03-8BB0-FC46-B300-F1C83ED45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944" y="2912063"/>
            <a:ext cx="1395435" cy="469900"/>
          </a:xfrm>
          <a:prstGeom prst="wedgeRoundRectCallout">
            <a:avLst>
              <a:gd name="adj1" fmla="val 68738"/>
              <a:gd name="adj2" fmla="val -35489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Clr>
                <a:schemeClr val="hlink"/>
              </a:buClr>
              <a:buSzPct val="55000"/>
              <a:buNone/>
            </a:pPr>
            <a:r>
              <a:rPr lang="en-US" sz="1300" dirty="0"/>
              <a:t>Q can safely be colored “</a:t>
            </a:r>
            <a:r>
              <a:rPr lang="en-US" sz="1300" dirty="0">
                <a:solidFill>
                  <a:srgbClr val="FF0000"/>
                </a:solidFill>
              </a:rPr>
              <a:t>red</a:t>
            </a:r>
            <a:r>
              <a:rPr lang="en-US" sz="1300" dirty="0"/>
              <a:t>”</a:t>
            </a:r>
          </a:p>
        </p:txBody>
      </p:sp>
      <p:sp>
        <p:nvSpPr>
          <p:cNvPr id="23" name="Rounded Rectangular Callout 6">
            <a:extLst>
              <a:ext uri="{FF2B5EF4-FFF2-40B4-BE49-F238E27FC236}">
                <a16:creationId xmlns:a16="http://schemas.microsoft.com/office/drawing/2014/main" id="{03EE5876-1ED3-F24E-A3E2-A57832A4F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2094" y="2752830"/>
            <a:ext cx="1556481" cy="896307"/>
          </a:xfrm>
          <a:prstGeom prst="wedgeRoundRectCallout">
            <a:avLst>
              <a:gd name="adj1" fmla="val 89008"/>
              <a:gd name="adj2" fmla="val -25611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300" dirty="0"/>
              <a:t>Q can safely be colored “</a:t>
            </a:r>
            <a:r>
              <a:rPr lang="en-US" sz="1300" dirty="0">
                <a:solidFill>
                  <a:srgbClr val="0070C0"/>
                </a:solidFill>
              </a:rPr>
              <a:t>blue</a:t>
            </a:r>
            <a:r>
              <a:rPr lang="en-US" sz="1300" dirty="0"/>
              <a:t>”, but best possible color is “</a:t>
            </a:r>
            <a:r>
              <a:rPr lang="en-US" sz="1300" dirty="0">
                <a:solidFill>
                  <a:srgbClr val="FF0000"/>
                </a:solidFill>
              </a:rPr>
              <a:t>red</a:t>
            </a:r>
            <a:r>
              <a:rPr lang="en-US" sz="1300" dirty="0"/>
              <a:t>” </a:t>
            </a:r>
          </a:p>
        </p:txBody>
      </p:sp>
      <p:sp>
        <p:nvSpPr>
          <p:cNvPr id="24" name="Rounded Rectangular Callout 6">
            <a:extLst>
              <a:ext uri="{FF2B5EF4-FFF2-40B4-BE49-F238E27FC236}">
                <a16:creationId xmlns:a16="http://schemas.microsoft.com/office/drawing/2014/main" id="{B0D7BCFB-E463-5749-AB03-316C6AFD7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018" y="2752831"/>
            <a:ext cx="1740528" cy="896307"/>
          </a:xfrm>
          <a:prstGeom prst="wedgeRoundRectCallout">
            <a:avLst>
              <a:gd name="adj1" fmla="val 81451"/>
              <a:gd name="adj2" fmla="val -25181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300" dirty="0"/>
              <a:t>Q can safely be colored “</a:t>
            </a:r>
            <a:r>
              <a:rPr lang="en-US" sz="1300" dirty="0">
                <a:solidFill>
                  <a:srgbClr val="0070C0"/>
                </a:solidFill>
              </a:rPr>
              <a:t>blue</a:t>
            </a:r>
            <a:r>
              <a:rPr lang="en-US" sz="1300" dirty="0"/>
              <a:t>” since blue is best possible color for Q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27AFC9-9CEA-C844-8046-1295C03608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36" y="1156843"/>
            <a:ext cx="3306650" cy="23774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A3AAEF9-F400-AC4B-B9CD-43966A6B4B7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519" y="1135173"/>
            <a:ext cx="3306650" cy="237744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73F4B3C-C6FA-DA49-8B96-2617347FB1F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975" y="1146008"/>
            <a:ext cx="3306650" cy="23774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185890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Shortcut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0630" y="1323975"/>
            <a:ext cx="4767014" cy="44799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rgbClr val="0070C0"/>
                </a:solidFill>
              </a:rPr>
              <a:t>An edge can be removed</a:t>
            </a:r>
          </a:p>
          <a:p>
            <a:pPr lvl="1">
              <a:spcBef>
                <a:spcPts val="600"/>
              </a:spcBef>
            </a:pPr>
            <a:r>
              <a:rPr lang="en-US" dirty="0">
                <a:solidFill>
                  <a:srgbClr val="FF0000"/>
                </a:solidFill>
              </a:rPr>
              <a:t>As soon as </a:t>
            </a:r>
            <a:r>
              <a:rPr lang="en-US" dirty="0">
                <a:solidFill>
                  <a:srgbClr val="0070C0"/>
                </a:solidFill>
              </a:rPr>
              <a:t>there is no overlap in possible colors</a:t>
            </a:r>
          </a:p>
          <a:p>
            <a:pPr lvl="3">
              <a:spcBef>
                <a:spcPts val="600"/>
              </a:spcBef>
            </a:pPr>
            <a:endParaRPr lang="en-US" sz="1600" dirty="0"/>
          </a:p>
          <a:p>
            <a:pPr>
              <a:spcBef>
                <a:spcPts val="600"/>
              </a:spcBef>
            </a:pPr>
            <a:r>
              <a:rPr lang="en-US" sz="2800" dirty="0"/>
              <a:t>B</a:t>
            </a:r>
            <a:r>
              <a:rPr lang="en-US" dirty="0"/>
              <a:t>enefits</a:t>
            </a:r>
            <a:r>
              <a:rPr lang="en-US" sz="2800" dirty="0"/>
              <a:t> </a:t>
            </a:r>
          </a:p>
          <a:p>
            <a:pPr marL="971550" lvl="1" indent="-457200">
              <a:spcBef>
                <a:spcPts val="600"/>
              </a:spcBef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</a:rPr>
              <a:t>Removes one possible color </a:t>
            </a:r>
            <a:r>
              <a:rPr lang="en-US" dirty="0"/>
              <a:t>from bitmap </a:t>
            </a:r>
          </a:p>
          <a:p>
            <a:pPr marL="971550" lvl="1" indent="-457200">
              <a:spcBef>
                <a:spcPts val="600"/>
              </a:spcBef>
              <a:buFont typeface="+mj-lt"/>
              <a:buAutoNum type="arabicPeriod"/>
            </a:pPr>
            <a:r>
              <a:rPr lang="en-US" dirty="0"/>
              <a:t>Speeds up later processing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BF9314-3667-074B-A7C6-100BAAB03A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5312330"/>
            <a:ext cx="8839200" cy="469900"/>
          </a:xfrm>
          <a:prstGeom prst="rect">
            <a:avLst/>
          </a:prstGeom>
        </p:spPr>
      </p:pic>
      <p:sp>
        <p:nvSpPr>
          <p:cNvPr id="12" name="Rounded Rectangular Callout 6">
            <a:extLst>
              <a:ext uri="{FF2B5EF4-FFF2-40B4-BE49-F238E27FC236}">
                <a16:creationId xmlns:a16="http://schemas.microsoft.com/office/drawing/2014/main" id="{24BE4F63-800B-1649-A792-D04CBFEA4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9271" y="3007902"/>
            <a:ext cx="1609018" cy="505646"/>
          </a:xfrm>
          <a:prstGeom prst="wedgeRoundRectCallout">
            <a:avLst>
              <a:gd name="adj1" fmla="val -48923"/>
              <a:gd name="adj2" fmla="val -131100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300" dirty="0"/>
              <a:t>R can be either “</a:t>
            </a:r>
            <a:r>
              <a:rPr lang="en-US" sz="1300" b="1" dirty="0">
                <a:solidFill>
                  <a:srgbClr val="0070C0"/>
                </a:solidFill>
              </a:rPr>
              <a:t>blue</a:t>
            </a:r>
            <a:r>
              <a:rPr lang="en-US" sz="1300" dirty="0"/>
              <a:t>” or “</a:t>
            </a:r>
            <a:r>
              <a:rPr lang="en-US" sz="1400" b="1" dirty="0">
                <a:solidFill>
                  <a:srgbClr val="7030A0"/>
                </a:solidFill>
              </a:rPr>
              <a:t>purple</a:t>
            </a:r>
            <a:r>
              <a:rPr lang="en-US" sz="1300" dirty="0"/>
              <a:t>”</a:t>
            </a:r>
          </a:p>
          <a:p>
            <a:pPr algn="ctr">
              <a:buNone/>
            </a:pPr>
            <a:r>
              <a:rPr lang="en-US" sz="1300" dirty="0"/>
              <a:t> </a:t>
            </a:r>
          </a:p>
        </p:txBody>
      </p:sp>
      <p:sp>
        <p:nvSpPr>
          <p:cNvPr id="13" name="Rounded Rectangular Callout 6">
            <a:extLst>
              <a:ext uri="{FF2B5EF4-FFF2-40B4-BE49-F238E27FC236}">
                <a16:creationId xmlns:a16="http://schemas.microsoft.com/office/drawing/2014/main" id="{BB62F602-0D6B-A94D-873C-2488113AF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930" y="4026807"/>
            <a:ext cx="1639059" cy="509748"/>
          </a:xfrm>
          <a:prstGeom prst="wedgeRoundRectCallout">
            <a:avLst>
              <a:gd name="adj1" fmla="val 17973"/>
              <a:gd name="adj2" fmla="val -126903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300" dirty="0"/>
              <a:t>S can be “</a:t>
            </a:r>
            <a:r>
              <a:rPr lang="en-US" sz="1300" b="1" dirty="0">
                <a:solidFill>
                  <a:srgbClr val="FF0000"/>
                </a:solidFill>
              </a:rPr>
              <a:t>red</a:t>
            </a:r>
            <a:r>
              <a:rPr lang="en-US" sz="1300" dirty="0"/>
              <a:t>”, “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</a:rPr>
              <a:t>orange</a:t>
            </a:r>
            <a:r>
              <a:rPr lang="en-US" sz="1300" dirty="0"/>
              <a:t>” or “</a:t>
            </a:r>
            <a:r>
              <a:rPr lang="en-US" sz="1300" b="1" dirty="0">
                <a:solidFill>
                  <a:schemeClr val="bg1">
                    <a:lumMod val="50000"/>
                  </a:schemeClr>
                </a:solidFill>
              </a:rPr>
              <a:t>gray</a:t>
            </a:r>
            <a:r>
              <a:rPr lang="en-US" sz="1300" dirty="0"/>
              <a:t>”</a:t>
            </a:r>
          </a:p>
          <a:p>
            <a:pPr algn="ctr">
              <a:buNone/>
            </a:pPr>
            <a:r>
              <a:rPr lang="en-US" sz="1300" dirty="0"/>
              <a:t> </a:t>
            </a:r>
          </a:p>
        </p:txBody>
      </p:sp>
      <p:sp>
        <p:nvSpPr>
          <p:cNvPr id="14" name="Rounded Rectangular Callout 6">
            <a:extLst>
              <a:ext uri="{FF2B5EF4-FFF2-40B4-BE49-F238E27FC236}">
                <a16:creationId xmlns:a16="http://schemas.microsoft.com/office/drawing/2014/main" id="{7F909EB5-D59A-904A-ABD5-BC914DC49E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1082" y="4619105"/>
            <a:ext cx="2335837" cy="474655"/>
          </a:xfrm>
          <a:prstGeom prst="wedgeRoundRectCallout">
            <a:avLst>
              <a:gd name="adj1" fmla="val -18599"/>
              <a:gd name="adj2" fmla="val 51200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300" dirty="0"/>
              <a:t>There is </a:t>
            </a:r>
            <a:r>
              <a:rPr lang="en-US" sz="1300" dirty="0">
                <a:solidFill>
                  <a:srgbClr val="FF0000"/>
                </a:solidFill>
              </a:rPr>
              <a:t>no overlap </a:t>
            </a:r>
            <a:r>
              <a:rPr lang="en-US" sz="1300" dirty="0"/>
              <a:t>between possible colors of R and S</a:t>
            </a:r>
          </a:p>
        </p:txBody>
      </p:sp>
      <p:sp>
        <p:nvSpPr>
          <p:cNvPr id="15" name="Rounded Rectangular Callout 6">
            <a:extLst>
              <a:ext uri="{FF2B5EF4-FFF2-40B4-BE49-F238E27FC236}">
                <a16:creationId xmlns:a16="http://schemas.microsoft.com/office/drawing/2014/main" id="{14C7A869-61E2-B647-B137-28F55903C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032" y="2092465"/>
            <a:ext cx="1454375" cy="450252"/>
          </a:xfrm>
          <a:prstGeom prst="wedgeRoundRectCallout">
            <a:avLst>
              <a:gd name="adj1" fmla="val 67128"/>
              <a:gd name="adj2" fmla="val 144790"/>
              <a:gd name="adj3" fmla="val 16667"/>
            </a:avLst>
          </a:prstGeom>
          <a:solidFill>
            <a:schemeClr val="accent1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300" dirty="0"/>
              <a:t>Can </a:t>
            </a:r>
            <a:r>
              <a:rPr lang="en-US" sz="1300" dirty="0">
                <a:solidFill>
                  <a:srgbClr val="FF0000"/>
                </a:solidFill>
              </a:rPr>
              <a:t>delete</a:t>
            </a:r>
            <a:r>
              <a:rPr lang="en-US" sz="1300" dirty="0"/>
              <a:t> edge from R to 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43906B-DEBD-524B-8265-09419C4C7BF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316" y="1374220"/>
            <a:ext cx="3875314" cy="27432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94182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600"/>
              </a:spcBef>
              <a:buNone/>
            </a:pPr>
            <a:endParaRPr lang="en-US" sz="4400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600"/>
              </a:spcBef>
              <a:buNone/>
            </a:pPr>
            <a:endParaRPr lang="en-US" sz="4400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en-US" sz="6000" dirty="0">
                <a:solidFill>
                  <a:srgbClr val="0070C0"/>
                </a:solidFill>
              </a:rPr>
              <a:t>ECL-GC Operation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440923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710FEA9-B8D1-E246-9574-8AE980B111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144" y="1271016"/>
            <a:ext cx="4980856" cy="2743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ECL-GC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pPr>
              <a:spcBef>
                <a:spcPts val="900"/>
              </a:spcBef>
            </a:pPr>
            <a:r>
              <a:rPr lang="en-US" dirty="0">
                <a:solidFill>
                  <a:srgbClr val="FF0000"/>
                </a:solidFill>
              </a:rPr>
              <a:t>Initialization step</a:t>
            </a:r>
          </a:p>
          <a:p>
            <a:pPr lvl="1">
              <a:spcBef>
                <a:spcPts val="900"/>
              </a:spcBef>
            </a:pPr>
            <a:r>
              <a:rPr lang="en-US" dirty="0"/>
              <a:t>Compute direction of edges</a:t>
            </a:r>
          </a:p>
          <a:p>
            <a:pPr lvl="2">
              <a:spcBef>
                <a:spcPts val="900"/>
              </a:spcBef>
            </a:pPr>
            <a:r>
              <a:rPr lang="en-US" dirty="0"/>
              <a:t>Based on priority heuristic</a:t>
            </a:r>
          </a:p>
          <a:p>
            <a:pPr>
              <a:spcBef>
                <a:spcPts val="900"/>
              </a:spcBef>
            </a:pPr>
            <a:r>
              <a:rPr lang="en-US" dirty="0">
                <a:solidFill>
                  <a:srgbClr val="FF0000"/>
                </a:solidFill>
              </a:rPr>
              <a:t>Computation steps</a:t>
            </a:r>
          </a:p>
          <a:p>
            <a:pPr lvl="1">
              <a:spcBef>
                <a:spcPts val="900"/>
              </a:spcBef>
            </a:pPr>
            <a:r>
              <a:rPr lang="en-US" dirty="0"/>
              <a:t>Check every uncolored vertex</a:t>
            </a:r>
          </a:p>
          <a:p>
            <a:pPr lvl="1">
              <a:spcBef>
                <a:spcPts val="900"/>
              </a:spcBef>
            </a:pPr>
            <a:r>
              <a:rPr lang="en-US" dirty="0"/>
              <a:t>Color ready vertices with best possible color</a:t>
            </a:r>
          </a:p>
          <a:p>
            <a:pPr lvl="1">
              <a:spcBef>
                <a:spcPts val="900"/>
              </a:spcBef>
            </a:pPr>
            <a:r>
              <a:rPr lang="en-US" dirty="0">
                <a:solidFill>
                  <a:srgbClr val="0070C0"/>
                </a:solidFill>
              </a:rPr>
              <a:t>Apply shortcuts to remaining vertices if feasible</a:t>
            </a:r>
          </a:p>
          <a:p>
            <a:pPr lvl="1">
              <a:spcBef>
                <a:spcPts val="900"/>
              </a:spcBef>
            </a:pPr>
            <a:r>
              <a:rPr lang="en-US" dirty="0"/>
              <a:t>Repeat until entire graph has been colored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90584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ECL-GC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dirty="0">
                <a:solidFill>
                  <a:srgbClr val="0070C0"/>
                </a:solidFill>
              </a:rPr>
              <a:t>Initialization step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Compute </a:t>
            </a:r>
            <a:r>
              <a:rPr lang="en-US" dirty="0">
                <a:solidFill>
                  <a:srgbClr val="FF0000"/>
                </a:solidFill>
              </a:rPr>
              <a:t>direction</a:t>
            </a:r>
            <a:r>
              <a:rPr lang="en-US" dirty="0"/>
              <a:t> of each edge</a:t>
            </a:r>
          </a:p>
          <a:p>
            <a:pPr lvl="2">
              <a:spcBef>
                <a:spcPts val="600"/>
              </a:spcBef>
            </a:pPr>
            <a:r>
              <a:rPr lang="en-US" dirty="0"/>
              <a:t>Based on LDF heuristic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Initialize bitmaps</a:t>
            </a:r>
          </a:p>
          <a:p>
            <a:pPr>
              <a:spcBef>
                <a:spcPts val="600"/>
              </a:spcBef>
            </a:pPr>
            <a:r>
              <a:rPr lang="en-US" dirty="0"/>
              <a:t>Operation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Go from higher to lower degree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Use alphabetic ordering to break ties</a:t>
            </a:r>
          </a:p>
          <a:p>
            <a:pPr>
              <a:spcBef>
                <a:spcPts val="600"/>
              </a:spcBef>
            </a:pPr>
            <a:r>
              <a:rPr lang="en-US" dirty="0"/>
              <a:t>Result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Turns graph into </a:t>
            </a:r>
            <a:r>
              <a:rPr lang="en-US" dirty="0">
                <a:solidFill>
                  <a:srgbClr val="0070C0"/>
                </a:solidFill>
              </a:rPr>
              <a:t>DAG</a:t>
            </a:r>
            <a:r>
              <a:rPr lang="en-US" dirty="0"/>
              <a:t>; already colors vertex A “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  <a:r>
              <a:rPr lang="en-US" dirty="0"/>
              <a:t>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DC5E24-3697-FB4E-9340-3C12E7B8FB4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933" y="1352550"/>
            <a:ext cx="4681067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311323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ECL-GC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Computation step 1</a:t>
            </a:r>
          </a:p>
          <a:p>
            <a:pPr lvl="1"/>
            <a:r>
              <a:rPr lang="en-US" dirty="0"/>
              <a:t>Check every uncolored vertex </a:t>
            </a:r>
          </a:p>
          <a:p>
            <a:pPr lvl="1"/>
            <a:r>
              <a:rPr lang="en-US" dirty="0"/>
              <a:t>Color ready vertices</a:t>
            </a:r>
          </a:p>
          <a:p>
            <a:pPr lvl="1"/>
            <a:r>
              <a:rPr lang="en-US" dirty="0"/>
              <a:t>Apply shortcuts if possible</a:t>
            </a:r>
          </a:p>
          <a:p>
            <a:r>
              <a:rPr lang="en-US" dirty="0"/>
              <a:t>Operation</a:t>
            </a:r>
          </a:p>
          <a:p>
            <a:pPr lvl="1"/>
            <a:r>
              <a:rPr lang="en-US" dirty="0"/>
              <a:t>Neighbors of A clear “red” bit</a:t>
            </a:r>
          </a:p>
          <a:p>
            <a:pPr lvl="1"/>
            <a:r>
              <a:rPr lang="en-US" dirty="0"/>
              <a:t>Vertex B is ready</a:t>
            </a:r>
          </a:p>
          <a:p>
            <a:pPr lvl="1"/>
            <a:r>
              <a:rPr lang="en-US" dirty="0"/>
              <a:t>Color vertex B “</a:t>
            </a:r>
            <a:r>
              <a:rPr lang="en-US" b="1" dirty="0">
                <a:solidFill>
                  <a:srgbClr val="00B0F0"/>
                </a:solidFill>
              </a:rPr>
              <a:t>blue</a:t>
            </a:r>
            <a:r>
              <a:rPr lang="en-US" dirty="0"/>
              <a:t>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AB1D51-54FC-FB4D-9E5E-732473191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5330952"/>
            <a:ext cx="8839200" cy="4699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239D2C3-9C2D-4E48-81CB-BBA84146A4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72" y="1353312"/>
            <a:ext cx="4681067" cy="256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108937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ECL-GC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dirty="0">
                <a:solidFill>
                  <a:srgbClr val="0070C0"/>
                </a:solidFill>
              </a:rPr>
              <a:t>Computation step 2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Color vertices and use shortcut</a:t>
            </a:r>
          </a:p>
          <a:p>
            <a:pPr>
              <a:spcBef>
                <a:spcPts val="300"/>
              </a:spcBef>
            </a:pPr>
            <a:r>
              <a:rPr lang="en-US" dirty="0"/>
              <a:t>Operation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Neighbors of B clear “blue” bit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Colors vertex C “</a:t>
            </a:r>
            <a:r>
              <a:rPr lang="en-US" dirty="0">
                <a:solidFill>
                  <a:srgbClr val="FF0000"/>
                </a:solidFill>
              </a:rPr>
              <a:t>red</a:t>
            </a:r>
            <a:r>
              <a:rPr lang="en-US" dirty="0"/>
              <a:t>”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Enables Shortcut 2 on vertex E</a:t>
            </a:r>
          </a:p>
          <a:p>
            <a:pPr lvl="2">
              <a:spcBef>
                <a:spcPts val="300"/>
              </a:spcBef>
            </a:pPr>
            <a:r>
              <a:rPr lang="en-US" dirty="0"/>
              <a:t>E can delete edge CE (whether it sees C as 11 or 01)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Enables Shortcut 1 on vertices D and G</a:t>
            </a:r>
          </a:p>
          <a:p>
            <a:pPr lvl="2">
              <a:spcBef>
                <a:spcPts val="300"/>
              </a:spcBef>
            </a:pPr>
            <a:r>
              <a:rPr lang="en-US" dirty="0"/>
              <a:t>Both can be colored “</a:t>
            </a:r>
            <a:r>
              <a:rPr lang="en-US" dirty="0">
                <a:solidFill>
                  <a:schemeClr val="accent2"/>
                </a:solidFill>
              </a:rPr>
              <a:t>orange</a:t>
            </a:r>
            <a:r>
              <a:rPr lang="en-US" dirty="0"/>
              <a:t>” (whether they see C as 11 or 01)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AB1D51-54FC-FB4D-9E5E-7324731918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5330952"/>
            <a:ext cx="8839200" cy="469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97A8A9-20AC-9045-9D98-647CAF36B1F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72" y="1353312"/>
            <a:ext cx="4681067" cy="25603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433773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ECL-GC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pPr>
              <a:spcBef>
                <a:spcPts val="200"/>
              </a:spcBef>
            </a:pPr>
            <a:r>
              <a:rPr lang="en-US" dirty="0">
                <a:solidFill>
                  <a:srgbClr val="0070C0"/>
                </a:solidFill>
              </a:rPr>
              <a:t>Computation step 3</a:t>
            </a:r>
          </a:p>
          <a:p>
            <a:pPr lvl="1">
              <a:spcBef>
                <a:spcPts val="200"/>
              </a:spcBef>
            </a:pPr>
            <a:r>
              <a:rPr lang="en-US" dirty="0"/>
              <a:t>Check every uncolored vertex </a:t>
            </a:r>
          </a:p>
          <a:p>
            <a:pPr lvl="1">
              <a:spcBef>
                <a:spcPts val="200"/>
              </a:spcBef>
            </a:pPr>
            <a:r>
              <a:rPr lang="en-US" dirty="0"/>
              <a:t>Color ready vertices</a:t>
            </a:r>
          </a:p>
          <a:p>
            <a:pPr lvl="1">
              <a:spcBef>
                <a:spcPts val="200"/>
              </a:spcBef>
            </a:pPr>
            <a:r>
              <a:rPr lang="en-US" dirty="0"/>
              <a:t>Apply shortcuts if possible</a:t>
            </a:r>
          </a:p>
          <a:p>
            <a:pPr>
              <a:spcBef>
                <a:spcPts val="200"/>
              </a:spcBef>
            </a:pPr>
            <a:r>
              <a:rPr lang="en-US" dirty="0"/>
              <a:t>Operation</a:t>
            </a:r>
          </a:p>
          <a:p>
            <a:pPr lvl="1">
              <a:spcBef>
                <a:spcPts val="200"/>
              </a:spcBef>
            </a:pPr>
            <a:r>
              <a:rPr lang="en-US" dirty="0"/>
              <a:t>Neighbors of C and D clear bits</a:t>
            </a:r>
          </a:p>
          <a:p>
            <a:pPr lvl="1">
              <a:spcBef>
                <a:spcPts val="200"/>
              </a:spcBef>
            </a:pPr>
            <a:r>
              <a:rPr lang="en-US" dirty="0"/>
              <a:t>Colors vertex E “</a:t>
            </a:r>
            <a:r>
              <a:rPr lang="en-US" dirty="0">
                <a:solidFill>
                  <a:srgbClr val="7030A0"/>
                </a:solidFill>
              </a:rPr>
              <a:t>purple</a:t>
            </a:r>
            <a:r>
              <a:rPr lang="en-US" dirty="0"/>
              <a:t>”</a:t>
            </a:r>
          </a:p>
          <a:p>
            <a:pPr lvl="1">
              <a:spcBef>
                <a:spcPts val="200"/>
              </a:spcBef>
            </a:pPr>
            <a:r>
              <a:rPr lang="en-US" dirty="0"/>
              <a:t>Enables Shortcut 1 on vertex F</a:t>
            </a:r>
          </a:p>
          <a:p>
            <a:pPr lvl="2">
              <a:spcBef>
                <a:spcPts val="200"/>
              </a:spcBef>
            </a:pPr>
            <a:r>
              <a:rPr lang="en-US" dirty="0"/>
              <a:t>Can be colored “</a:t>
            </a:r>
            <a:r>
              <a:rPr lang="en-US" dirty="0">
                <a:solidFill>
                  <a:srgbClr val="00B0F0"/>
                </a:solidFill>
              </a:rPr>
              <a:t>blue</a:t>
            </a:r>
            <a:r>
              <a:rPr lang="en-US" dirty="0"/>
              <a:t>” (whether it sees E as 01100 or 01000)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5AB1D51-54FC-FB4D-9E5E-732473191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" y="5335016"/>
            <a:ext cx="8839200" cy="469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7A6DD6-4D3E-7E4C-8B51-1BBAF578EFCC}"/>
              </a:ext>
            </a:extLst>
          </p:cNvPr>
          <p:cNvSpPr txBox="1"/>
          <p:nvPr/>
        </p:nvSpPr>
        <p:spPr>
          <a:xfrm>
            <a:off x="244549" y="3700130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1" name="Rounded Rectangular Callout 6">
            <a:extLst>
              <a:ext uri="{FF2B5EF4-FFF2-40B4-BE49-F238E27FC236}">
                <a16:creationId xmlns:a16="http://schemas.microsoft.com/office/drawing/2014/main" id="{F0D225F1-F4D1-A64D-B92F-3C4F593EA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1685" y="4046396"/>
            <a:ext cx="2477461" cy="587071"/>
          </a:xfrm>
          <a:prstGeom prst="wedgeRoundRectCallout">
            <a:avLst>
              <a:gd name="adj1" fmla="val -11067"/>
              <a:gd name="adj2" fmla="val -6427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600" dirty="0"/>
              <a:t> ECL-GC terminates after </a:t>
            </a:r>
            <a:r>
              <a:rPr lang="en-US" sz="1600" dirty="0">
                <a:solidFill>
                  <a:srgbClr val="FF0000"/>
                </a:solidFill>
              </a:rPr>
              <a:t>3 steps</a:t>
            </a:r>
            <a:r>
              <a:rPr lang="en-US" sz="1600" dirty="0"/>
              <a:t> instead of 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E0F8C5-71F9-9643-98EE-4BBB58EAA77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272" y="1353312"/>
            <a:ext cx="4681067" cy="25603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335179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600"/>
              </a:spcBef>
              <a:buNone/>
            </a:pPr>
            <a:endParaRPr lang="en-US" sz="4400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600"/>
              </a:spcBef>
              <a:buNone/>
            </a:pPr>
            <a:endParaRPr lang="en-US" sz="4400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en-US" sz="6000" dirty="0">
                <a:solidFill>
                  <a:srgbClr val="0070C0"/>
                </a:solidFill>
              </a:rPr>
              <a:t>Efficient 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618633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Efficient Shortcut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Fully implement </a:t>
            </a:r>
            <a:r>
              <a:rPr lang="en-US" dirty="0"/>
              <a:t>shortcuts on low-degree vertices</a:t>
            </a:r>
          </a:p>
          <a:p>
            <a:pPr lvl="1"/>
            <a:r>
              <a:rPr lang="en-US" dirty="0"/>
              <a:t>Degree &lt; 32, bitmap fits in 32-bit integer </a:t>
            </a:r>
          </a:p>
          <a:p>
            <a:pPr lvl="3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Approximate</a:t>
            </a:r>
            <a:r>
              <a:rPr lang="en-US" dirty="0"/>
              <a:t> shortcuts on high-degree vertices </a:t>
            </a:r>
          </a:p>
          <a:p>
            <a:pPr lvl="1"/>
            <a:r>
              <a:rPr lang="en-US" dirty="0"/>
              <a:t>To avoid slow processing of long bitmaps</a:t>
            </a:r>
          </a:p>
          <a:p>
            <a:pPr lvl="1"/>
            <a:r>
              <a:rPr lang="en-US" dirty="0"/>
              <a:t>Only use two integers for shortcut computations</a:t>
            </a:r>
          </a:p>
          <a:p>
            <a:pPr lvl="2"/>
            <a:r>
              <a:rPr lang="en-US" dirty="0"/>
              <a:t>First integer specifies best possible color</a:t>
            </a:r>
          </a:p>
          <a:p>
            <a:pPr lvl="2"/>
            <a:r>
              <a:rPr lang="en-US" dirty="0"/>
              <a:t>Second integer specifies worst possible color</a:t>
            </a:r>
          </a:p>
          <a:p>
            <a:pPr lvl="1"/>
            <a:r>
              <a:rPr lang="en-US" dirty="0"/>
              <a:t>Like JP, still maintains full bitmap for color assignment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8271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600"/>
              </a:spcBef>
              <a:buNone/>
            </a:pPr>
            <a:endParaRPr lang="en-US" sz="4400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600"/>
              </a:spcBef>
              <a:buNone/>
            </a:pPr>
            <a:endParaRPr lang="en-US" sz="4400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en-US" sz="6000" dirty="0">
                <a:solidFill>
                  <a:srgbClr val="0070C0"/>
                </a:solidFill>
              </a:rPr>
              <a:t>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459199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3CE1-D297-4590-82EA-63A1ADA2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47688"/>
            <a:ext cx="8467344" cy="639762"/>
          </a:xfrm>
        </p:spPr>
        <p:txBody>
          <a:bodyPr/>
          <a:lstStyle/>
          <a:p>
            <a:r>
              <a:rPr lang="en-US" dirty="0"/>
              <a:t>Methodology: 2 Devices and 11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43097-4F32-4B85-A755-4515046AA3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323975"/>
            <a:ext cx="4513385" cy="4479925"/>
          </a:xfrm>
        </p:spPr>
        <p:txBody>
          <a:bodyPr/>
          <a:lstStyle/>
          <a:p>
            <a:r>
              <a:rPr lang="en-US" dirty="0"/>
              <a:t>1.2 GHz </a:t>
            </a:r>
            <a:r>
              <a:rPr lang="en-US" dirty="0">
                <a:solidFill>
                  <a:srgbClr val="0070C0"/>
                </a:solidFill>
              </a:rPr>
              <a:t>Titan V GPU</a:t>
            </a:r>
          </a:p>
          <a:p>
            <a:pPr lvl="1"/>
            <a:r>
              <a:rPr lang="en-US" dirty="0"/>
              <a:t>5120 cores</a:t>
            </a:r>
          </a:p>
          <a:p>
            <a:pPr lvl="1"/>
            <a:r>
              <a:rPr lang="en-US" dirty="0"/>
              <a:t>4.5 MB L2, 12 GB (652 GB/s)</a:t>
            </a:r>
          </a:p>
          <a:p>
            <a:pPr>
              <a:spcBef>
                <a:spcPts val="0"/>
              </a:spcBef>
            </a:pPr>
            <a:r>
              <a:rPr lang="en-US" dirty="0"/>
              <a:t>3.1 GHz dual </a:t>
            </a:r>
            <a:r>
              <a:rPr lang="en-US" dirty="0">
                <a:solidFill>
                  <a:srgbClr val="0070C0"/>
                </a:solidFill>
              </a:rPr>
              <a:t>Xeon CPU</a:t>
            </a:r>
          </a:p>
          <a:p>
            <a:pPr lvl="1">
              <a:spcBef>
                <a:spcPts val="0"/>
              </a:spcBef>
            </a:pPr>
            <a:r>
              <a:rPr lang="en-US" dirty="0"/>
              <a:t>20 cores, 40 threads</a:t>
            </a:r>
          </a:p>
          <a:p>
            <a:pPr lvl="1">
              <a:spcBef>
                <a:spcPts val="0"/>
              </a:spcBef>
            </a:pPr>
            <a:r>
              <a:rPr lang="en-US" dirty="0"/>
              <a:t>25 MB L3, 128 GB (68 GB/s)</a:t>
            </a:r>
          </a:p>
          <a:p>
            <a:pPr>
              <a:spcBef>
                <a:spcPts val="0"/>
              </a:spcBef>
            </a:pPr>
            <a:r>
              <a:rPr lang="en-US" dirty="0"/>
              <a:t>One more device in paper</a:t>
            </a:r>
          </a:p>
          <a:p>
            <a:pPr>
              <a:spcBef>
                <a:spcPts val="0"/>
              </a:spcBef>
            </a:pPr>
            <a:r>
              <a:rPr lang="en-US" dirty="0"/>
              <a:t>Comparison</a:t>
            </a:r>
          </a:p>
          <a:p>
            <a:pPr lvl="1">
              <a:spcBef>
                <a:spcPts val="0"/>
              </a:spcBef>
            </a:pPr>
            <a:r>
              <a:rPr lang="en-US" dirty="0"/>
              <a:t>5 GPU codes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3 parallel CPU codes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3 serial CPU codes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 lvl="1">
              <a:spcBef>
                <a:spcPts val="0"/>
              </a:spcBef>
            </a:pPr>
            <a:endParaRPr lang="en-US" dirty="0"/>
          </a:p>
          <a:p>
            <a:pPr marL="457200" lvl="1" indent="0">
              <a:spcBef>
                <a:spcPts val="0"/>
              </a:spcBef>
              <a:buNone/>
            </a:pP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1BD46-DEE4-4251-BA1B-8A73C931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36B27-7D95-4112-A4AF-EB3422CD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5EDC6E-1CCC-B849-A01C-C40F42EF38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0" r="13806"/>
          <a:stretch/>
        </p:blipFill>
        <p:spPr bwMode="auto">
          <a:xfrm>
            <a:off x="4970584" y="1463788"/>
            <a:ext cx="3810000" cy="405345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4691529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63CE1-D297-4590-82EA-63A1ADA28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Methodology: 18 Input Graphs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1BD46-DEE4-4251-BA1B-8A73C931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36B27-7D95-4112-A4AF-EB3422CDB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846463-D312-4D42-9FC6-098E01293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746" y="1391565"/>
            <a:ext cx="6326186" cy="422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567902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C97EB3-FCCA-4A63-9D8F-F5CA6A8206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44" y="1296122"/>
            <a:ext cx="7677912" cy="43723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314067-476E-F244-B26B-3DA9BBDF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Amount of Parallelism on Kron Graph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49429-5939-EB43-BA65-0D3987FC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90DBB-C92A-6749-BC4A-6992783A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15" name="Rounded Rectangular Callout 6">
            <a:extLst>
              <a:ext uri="{FF2B5EF4-FFF2-40B4-BE49-F238E27FC236}">
                <a16:creationId xmlns:a16="http://schemas.microsoft.com/office/drawing/2014/main" id="{7639E3ED-EECD-514E-BC5F-D195AE5A4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5239" y="2841644"/>
            <a:ext cx="1970855" cy="671512"/>
          </a:xfrm>
          <a:prstGeom prst="wedgeRoundRectCallout">
            <a:avLst>
              <a:gd name="adj1" fmla="val 55289"/>
              <a:gd name="adj2" fmla="val 255798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800" dirty="0"/>
              <a:t>3997 steps without shortcuts</a:t>
            </a:r>
          </a:p>
        </p:txBody>
      </p:sp>
      <p:sp>
        <p:nvSpPr>
          <p:cNvPr id="17" name="Rounded Rectangular Callout 6">
            <a:extLst>
              <a:ext uri="{FF2B5EF4-FFF2-40B4-BE49-F238E27FC236}">
                <a16:creationId xmlns:a16="http://schemas.microsoft.com/office/drawing/2014/main" id="{903BA7BD-9006-0C49-9ECF-6D1A95E78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3959" y="3393707"/>
            <a:ext cx="1691971" cy="705644"/>
          </a:xfrm>
          <a:prstGeom prst="wedgeRoundRectCallout">
            <a:avLst>
              <a:gd name="adj1" fmla="val -31317"/>
              <a:gd name="adj2" fmla="val 185988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800" dirty="0"/>
              <a:t>509 steps with shortcuts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38509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4D0BFF-54BE-448A-A3FD-D9D5C7C02A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298448"/>
            <a:ext cx="7680960" cy="4386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Amount of Parallelism on UK Graph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FAAB13A1-F175-4BA6-89EC-5104FF903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6281" y="3543812"/>
            <a:ext cx="2071950" cy="671512"/>
          </a:xfrm>
          <a:prstGeom prst="wedgeRoundRectCallout">
            <a:avLst>
              <a:gd name="adj1" fmla="val 22969"/>
              <a:gd name="adj2" fmla="val 166645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800" dirty="0"/>
              <a:t>Lines overlap and end at same point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03180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Available Parallelism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EAA1B0-88A2-4DB8-96C0-3F6B3A88F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442" y="1471495"/>
            <a:ext cx="5452110" cy="404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37581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CD695-EDD4-3B4C-9742-0782CD2B7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Throughput on Titan V (GPU Codes)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FBA3220-E5EA-9E42-8AF1-EF09B31616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13" y="2313432"/>
            <a:ext cx="8321040" cy="3356153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F625C-0563-0C43-A6B0-68614C6EA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021E9-9F85-B848-8036-29EDA0F92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8" name="Rounded Rectangular Callout 6">
            <a:extLst>
              <a:ext uri="{FF2B5EF4-FFF2-40B4-BE49-F238E27FC236}">
                <a16:creationId xmlns:a16="http://schemas.microsoft.com/office/drawing/2014/main" id="{2591B674-755F-9C4E-BDAB-FF58000C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8496" y="1424377"/>
            <a:ext cx="2373279" cy="738332"/>
          </a:xfrm>
          <a:prstGeom prst="wedgeRoundRectCallout">
            <a:avLst>
              <a:gd name="adj1" fmla="val 21271"/>
              <a:gd name="adj2" fmla="val 173804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400" dirty="0"/>
              <a:t>On average, ECL-GC is 2.9 times faster than the fastest GPU code Data-</a:t>
            </a:r>
            <a:r>
              <a:rPr lang="en-US" sz="1400" dirty="0" err="1"/>
              <a:t>pq</a:t>
            </a:r>
            <a:r>
              <a:rPr lang="en-US" sz="1400" dirty="0"/>
              <a:t> </a:t>
            </a:r>
          </a:p>
        </p:txBody>
      </p:sp>
      <p:sp>
        <p:nvSpPr>
          <p:cNvPr id="9" name="Rounded Rectangular Callout 6">
            <a:extLst>
              <a:ext uri="{FF2B5EF4-FFF2-40B4-BE49-F238E27FC236}">
                <a16:creationId xmlns:a16="http://schemas.microsoft.com/office/drawing/2014/main" id="{7DB117EC-5063-784F-B9E1-29EF2F9BA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360" y="1405177"/>
            <a:ext cx="2373279" cy="738332"/>
          </a:xfrm>
          <a:prstGeom prst="wedgeRoundRectCallout">
            <a:avLst>
              <a:gd name="adj1" fmla="val 22678"/>
              <a:gd name="adj2" fmla="val 270823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400" dirty="0"/>
              <a:t>On kron_g500-logn21, ECL-GC is 17 times faster than Data-</a:t>
            </a:r>
            <a:r>
              <a:rPr lang="en-US" sz="1400" dirty="0" err="1"/>
              <a:t>pq</a:t>
            </a:r>
            <a:endParaRPr lang="en-US" sz="1400" dirty="0"/>
          </a:p>
        </p:txBody>
      </p:sp>
      <p:sp>
        <p:nvSpPr>
          <p:cNvPr id="11" name="Rounded Rectangular Callout 6">
            <a:extLst>
              <a:ext uri="{FF2B5EF4-FFF2-40B4-BE49-F238E27FC236}">
                <a16:creationId xmlns:a16="http://schemas.microsoft.com/office/drawing/2014/main" id="{130BB0D4-DCA7-4D40-9360-67C9290FE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311" y="4928064"/>
            <a:ext cx="2519311" cy="510803"/>
          </a:xfrm>
          <a:prstGeom prst="wedgeRoundRectCallout">
            <a:avLst>
              <a:gd name="adj1" fmla="val 79285"/>
              <a:gd name="adj2" fmla="val 54175"/>
              <a:gd name="adj3" fmla="val 16667"/>
            </a:avLst>
          </a:prstGeom>
          <a:solidFill>
            <a:schemeClr val="tx2">
              <a:lumMod val="20000"/>
              <a:lumOff val="8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400" dirty="0"/>
              <a:t>Our baseline implementation</a:t>
            </a:r>
          </a:p>
          <a:p>
            <a:pPr algn="ctr">
              <a:buNone/>
            </a:pPr>
            <a:r>
              <a:rPr lang="en-US" sz="1400" dirty="0"/>
              <a:t>without the shortcuts</a:t>
            </a:r>
          </a:p>
        </p:txBody>
      </p:sp>
      <p:sp>
        <p:nvSpPr>
          <p:cNvPr id="13" name="Rounded Rectangular Callout 6">
            <a:extLst>
              <a:ext uri="{FF2B5EF4-FFF2-40B4-BE49-F238E27FC236}">
                <a16:creationId xmlns:a16="http://schemas.microsoft.com/office/drawing/2014/main" id="{346647CB-0969-964D-8CAC-CC3550CB4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5825" y="4682741"/>
            <a:ext cx="2519311" cy="738332"/>
          </a:xfrm>
          <a:prstGeom prst="wedgeRoundRectCallout">
            <a:avLst>
              <a:gd name="adj1" fmla="val 71991"/>
              <a:gd name="adj2" fmla="val -220810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400" dirty="0"/>
              <a:t>ECL-GC w/o shortcuts is slightly faster than other GPU codes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67F73A-8F0F-D64F-AD04-784B35EEC7E1}"/>
              </a:ext>
            </a:extLst>
          </p:cNvPr>
          <p:cNvSpPr txBox="1"/>
          <p:nvPr/>
        </p:nvSpPr>
        <p:spPr>
          <a:xfrm>
            <a:off x="2618509" y="-290945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6B9007-A321-EB45-9D33-3ADCABEDD940}"/>
              </a:ext>
            </a:extLst>
          </p:cNvPr>
          <p:cNvSpPr txBox="1"/>
          <p:nvPr/>
        </p:nvSpPr>
        <p:spPr>
          <a:xfrm>
            <a:off x="8346831" y="-128954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80355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  <p:bldP spid="1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4067-476E-F244-B26B-3DA9BBDF6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47688"/>
            <a:ext cx="8372475" cy="639762"/>
          </a:xfrm>
        </p:spPr>
        <p:txBody>
          <a:bodyPr/>
          <a:lstStyle/>
          <a:p>
            <a:r>
              <a:rPr lang="en-US" dirty="0"/>
              <a:t>Throughput (Parallel CPU Codes)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49429-5939-EB43-BA65-0D3987FC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90DBB-C92A-6749-BC4A-6992783A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47ABE5-8C4D-B245-80FB-E1BE56492E46}"/>
              </a:ext>
            </a:extLst>
          </p:cNvPr>
          <p:cNvSpPr txBox="1"/>
          <p:nvPr/>
        </p:nvSpPr>
        <p:spPr>
          <a:xfrm>
            <a:off x="569396" y="1547327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E28C0-500D-334B-8CF5-A91375456D69}"/>
              </a:ext>
            </a:extLst>
          </p:cNvPr>
          <p:cNvSpPr txBox="1"/>
          <p:nvPr/>
        </p:nvSpPr>
        <p:spPr>
          <a:xfrm>
            <a:off x="572571" y="1488756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4781636F-6CDD-3544-BDEA-983AE2288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2311495"/>
            <a:ext cx="8321040" cy="3319272"/>
          </a:xfrm>
        </p:spPr>
      </p:pic>
      <p:sp>
        <p:nvSpPr>
          <p:cNvPr id="18" name="Rounded Rectangular Callout 6">
            <a:extLst>
              <a:ext uri="{FF2B5EF4-FFF2-40B4-BE49-F238E27FC236}">
                <a16:creationId xmlns:a16="http://schemas.microsoft.com/office/drawing/2014/main" id="{ED69DDA7-1143-2349-A5EF-2612FB013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6272" y="1224994"/>
            <a:ext cx="2565761" cy="969532"/>
          </a:xfrm>
          <a:prstGeom prst="wedgeRoundRectCallout">
            <a:avLst>
              <a:gd name="adj1" fmla="val 17514"/>
              <a:gd name="adj2" fmla="val 46145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spcBef>
                <a:spcPts val="0"/>
              </a:spcBef>
              <a:buNone/>
            </a:pPr>
            <a:r>
              <a:rPr lang="en-US" sz="1400" dirty="0"/>
              <a:t>ECL-GC is faster than GMMP-NT &amp; </a:t>
            </a:r>
            <a:r>
              <a:rPr lang="en-US" sz="1400" dirty="0" err="1"/>
              <a:t>Grappolo</a:t>
            </a:r>
            <a:r>
              <a:rPr lang="en-US" sz="1400" dirty="0"/>
              <a:t> on all tested graphs and faster than FirstFit on 15 graphs</a:t>
            </a:r>
          </a:p>
        </p:txBody>
      </p:sp>
      <p:sp>
        <p:nvSpPr>
          <p:cNvPr id="19" name="Rounded Rectangular Callout 6">
            <a:extLst>
              <a:ext uri="{FF2B5EF4-FFF2-40B4-BE49-F238E27FC236}">
                <a16:creationId xmlns:a16="http://schemas.microsoft.com/office/drawing/2014/main" id="{226C79CF-4C36-4E4D-BE32-DF2B1AD63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167" y="1384846"/>
            <a:ext cx="2095183" cy="706388"/>
          </a:xfrm>
          <a:prstGeom prst="wedgeRoundRectCallout">
            <a:avLst>
              <a:gd name="adj1" fmla="val 22318"/>
              <a:gd name="adj2" fmla="val 193431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400" dirty="0"/>
              <a:t>On average, ECL-GC is 4.0 times faster than FirstFit</a:t>
            </a:r>
          </a:p>
        </p:txBody>
      </p:sp>
      <p:sp>
        <p:nvSpPr>
          <p:cNvPr id="20" name="Rounded Rectangular Callout 6">
            <a:extLst>
              <a:ext uri="{FF2B5EF4-FFF2-40B4-BE49-F238E27FC236}">
                <a16:creationId xmlns:a16="http://schemas.microsoft.com/office/drawing/2014/main" id="{71FAABC8-52DD-6A45-96FC-285FEE2986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09" y="5012292"/>
            <a:ext cx="2373279" cy="787592"/>
          </a:xfrm>
          <a:prstGeom prst="wedgeRoundRectCallout">
            <a:avLst>
              <a:gd name="adj1" fmla="val 78724"/>
              <a:gd name="adj2" fmla="val 11691"/>
              <a:gd name="adj3" fmla="val 16667"/>
            </a:avLst>
          </a:prstGeom>
          <a:solidFill>
            <a:schemeClr val="tx2">
              <a:lumMod val="20000"/>
              <a:lumOff val="8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400" dirty="0"/>
              <a:t>Including time to send graph to GPU &amp; the resulting colors to CPU </a:t>
            </a:r>
          </a:p>
        </p:txBody>
      </p:sp>
      <p:sp>
        <p:nvSpPr>
          <p:cNvPr id="23" name="Rounded Rectangular Callout 6">
            <a:extLst>
              <a:ext uri="{FF2B5EF4-FFF2-40B4-BE49-F238E27FC236}">
                <a16:creationId xmlns:a16="http://schemas.microsoft.com/office/drawing/2014/main" id="{D2FEF887-A5E6-A447-B7A4-0693C1F57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4954" y="1745778"/>
            <a:ext cx="2653345" cy="486293"/>
          </a:xfrm>
          <a:prstGeom prst="wedgeRoundRectCallout">
            <a:avLst>
              <a:gd name="adj1" fmla="val 120104"/>
              <a:gd name="adj2" fmla="val 285143"/>
              <a:gd name="adj3" fmla="val 16667"/>
            </a:avLst>
          </a:prstGeom>
          <a:solidFill>
            <a:schemeClr val="accent5">
              <a:lumMod val="9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400" dirty="0"/>
              <a:t>Lowers throughput by 2.8x but still faster than CPU codes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511173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4067-476E-F244-B26B-3DA9BBDF6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47688"/>
            <a:ext cx="8372475" cy="639762"/>
          </a:xfrm>
        </p:spPr>
        <p:txBody>
          <a:bodyPr/>
          <a:lstStyle/>
          <a:p>
            <a:r>
              <a:rPr lang="en-US" dirty="0"/>
              <a:t>Throughput (Serial CPU Codes)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49429-5939-EB43-BA65-0D3987FC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90DBB-C92A-6749-BC4A-6992783A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47ABE5-8C4D-B245-80FB-E1BE56492E46}"/>
              </a:ext>
            </a:extLst>
          </p:cNvPr>
          <p:cNvSpPr txBox="1"/>
          <p:nvPr/>
        </p:nvSpPr>
        <p:spPr>
          <a:xfrm>
            <a:off x="569396" y="1547327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E28C0-500D-334B-8CF5-A91375456D69}"/>
              </a:ext>
            </a:extLst>
          </p:cNvPr>
          <p:cNvSpPr txBox="1"/>
          <p:nvPr/>
        </p:nvSpPr>
        <p:spPr>
          <a:xfrm>
            <a:off x="572571" y="1488756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57829D3-7A47-2043-BAC6-B089D0F5ED5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04288"/>
            <a:ext cx="8321040" cy="3319272"/>
          </a:xfrm>
        </p:spPr>
      </p:pic>
      <p:sp>
        <p:nvSpPr>
          <p:cNvPr id="17" name="Rounded Rectangular Callout 6">
            <a:extLst>
              <a:ext uri="{FF2B5EF4-FFF2-40B4-BE49-F238E27FC236}">
                <a16:creationId xmlns:a16="http://schemas.microsoft.com/office/drawing/2014/main" id="{F614ECAD-9673-8B42-A599-7C03BA698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873" y="1376739"/>
            <a:ext cx="2525372" cy="543501"/>
          </a:xfrm>
          <a:prstGeom prst="wedgeRoundRectCallout">
            <a:avLst>
              <a:gd name="adj1" fmla="val 57536"/>
              <a:gd name="adj2" fmla="val 331141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spcBef>
                <a:spcPts val="0"/>
              </a:spcBef>
              <a:buNone/>
            </a:pPr>
            <a:r>
              <a:rPr lang="en-US" sz="1400" dirty="0"/>
              <a:t>ECL-GC is faster on all tested graphs except in-2004 </a:t>
            </a:r>
          </a:p>
        </p:txBody>
      </p:sp>
      <p:sp>
        <p:nvSpPr>
          <p:cNvPr id="18" name="Rounded Rectangular Callout 6">
            <a:extLst>
              <a:ext uri="{FF2B5EF4-FFF2-40B4-BE49-F238E27FC236}">
                <a16:creationId xmlns:a16="http://schemas.microsoft.com/office/drawing/2014/main" id="{1C5A21B4-9A07-2546-B93C-6B4F49B73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8497" y="1390120"/>
            <a:ext cx="2373279" cy="680427"/>
          </a:xfrm>
          <a:prstGeom prst="wedgeRoundRectCallout">
            <a:avLst>
              <a:gd name="adj1" fmla="val 19849"/>
              <a:gd name="adj2" fmla="val 189191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400" dirty="0"/>
              <a:t>On average, ECL-GC is 13.2 times faster than FirstFit</a:t>
            </a:r>
          </a:p>
        </p:txBody>
      </p:sp>
    </p:spTree>
    <p:extLst>
      <p:ext uri="{BB962C8B-B14F-4D97-AF65-F5344CB8AC3E}">
        <p14:creationId xmlns:p14="http://schemas.microsoft.com/office/powerpoint/2010/main" val="307569051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4067-476E-F244-B26B-3DA9BBDF6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Number of Colors (GPU Codes)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49429-5939-EB43-BA65-0D3987FC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90DBB-C92A-6749-BC4A-6992783A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47ABE5-8C4D-B245-80FB-E1BE56492E46}"/>
              </a:ext>
            </a:extLst>
          </p:cNvPr>
          <p:cNvSpPr txBox="1"/>
          <p:nvPr/>
        </p:nvSpPr>
        <p:spPr>
          <a:xfrm>
            <a:off x="569396" y="1547327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E28C0-500D-334B-8CF5-A91375456D69}"/>
              </a:ext>
            </a:extLst>
          </p:cNvPr>
          <p:cNvSpPr txBox="1"/>
          <p:nvPr/>
        </p:nvSpPr>
        <p:spPr>
          <a:xfrm>
            <a:off x="572571" y="1488756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8226CC82-C8F6-AC49-849C-7C92CA265B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313432"/>
            <a:ext cx="8233852" cy="3319272"/>
          </a:xfrm>
        </p:spPr>
      </p:pic>
      <p:sp>
        <p:nvSpPr>
          <p:cNvPr id="24" name="Rounded Rectangular Callout 6">
            <a:extLst>
              <a:ext uri="{FF2B5EF4-FFF2-40B4-BE49-F238E27FC236}">
                <a16:creationId xmlns:a16="http://schemas.microsoft.com/office/drawing/2014/main" id="{1313DE61-1900-0B40-89CE-BEB9CB648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03" y="1337583"/>
            <a:ext cx="2567313" cy="731919"/>
          </a:xfrm>
          <a:prstGeom prst="wedgeRoundRectCallout">
            <a:avLst>
              <a:gd name="adj1" fmla="val 17514"/>
              <a:gd name="adj2" fmla="val 46145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spcBef>
                <a:spcPts val="0"/>
              </a:spcBef>
              <a:buNone/>
            </a:pPr>
            <a:r>
              <a:rPr lang="en-US" sz="1400" dirty="0"/>
              <a:t>ECL-GC assigns the smallest or the same number of colors on all tested inputs</a:t>
            </a:r>
          </a:p>
        </p:txBody>
      </p:sp>
      <p:sp>
        <p:nvSpPr>
          <p:cNvPr id="26" name="Rounded Rectangular Callout 6">
            <a:extLst>
              <a:ext uri="{FF2B5EF4-FFF2-40B4-BE49-F238E27FC236}">
                <a16:creationId xmlns:a16="http://schemas.microsoft.com/office/drawing/2014/main" id="{3F6E6879-1A41-2247-A09F-BF61DD0BC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8354" y="1506015"/>
            <a:ext cx="2373279" cy="483796"/>
          </a:xfrm>
          <a:prstGeom prst="wedgeRoundRectCallout">
            <a:avLst>
              <a:gd name="adj1" fmla="val 38344"/>
              <a:gd name="adj2" fmla="val 386835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Clr>
                <a:schemeClr val="hlink"/>
              </a:buClr>
              <a:buSzPct val="55000"/>
              <a:buNone/>
            </a:pPr>
            <a:r>
              <a:rPr lang="en-US" sz="1400" dirty="0"/>
              <a:t>On average, ECL-GC has the best coloring quality </a:t>
            </a:r>
          </a:p>
        </p:txBody>
      </p:sp>
    </p:spTree>
    <p:extLst>
      <p:ext uri="{BB962C8B-B14F-4D97-AF65-F5344CB8AC3E}">
        <p14:creationId xmlns:p14="http://schemas.microsoft.com/office/powerpoint/2010/main" val="3870340912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4067-476E-F244-B26B-3DA9BBDF6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47688"/>
            <a:ext cx="8466882" cy="639762"/>
          </a:xfrm>
        </p:spPr>
        <p:txBody>
          <a:bodyPr/>
          <a:lstStyle/>
          <a:p>
            <a:r>
              <a:rPr lang="en-US" dirty="0"/>
              <a:t>Number of Colors (Parallel CPU Codes)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49429-5939-EB43-BA65-0D3987FC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90DBB-C92A-6749-BC4A-6992783A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47ABE5-8C4D-B245-80FB-E1BE56492E46}"/>
              </a:ext>
            </a:extLst>
          </p:cNvPr>
          <p:cNvSpPr txBox="1"/>
          <p:nvPr/>
        </p:nvSpPr>
        <p:spPr>
          <a:xfrm>
            <a:off x="569396" y="1547327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E28C0-500D-334B-8CF5-A91375456D69}"/>
              </a:ext>
            </a:extLst>
          </p:cNvPr>
          <p:cNvSpPr txBox="1"/>
          <p:nvPr/>
        </p:nvSpPr>
        <p:spPr>
          <a:xfrm>
            <a:off x="572571" y="1488756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540C7D-3A7A-3846-BE68-9924A9BD86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2314917"/>
            <a:ext cx="8321040" cy="3319272"/>
          </a:xfrm>
        </p:spPr>
      </p:pic>
      <p:sp>
        <p:nvSpPr>
          <p:cNvPr id="13" name="Rounded Rectangular Callout 6">
            <a:extLst>
              <a:ext uri="{FF2B5EF4-FFF2-40B4-BE49-F238E27FC236}">
                <a16:creationId xmlns:a16="http://schemas.microsoft.com/office/drawing/2014/main" id="{A35075C4-D6ED-5646-B0A0-CB9A4EBCA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7132" y="1276809"/>
            <a:ext cx="2644831" cy="951788"/>
          </a:xfrm>
          <a:prstGeom prst="wedgeRoundRectCallout">
            <a:avLst>
              <a:gd name="adj1" fmla="val 17514"/>
              <a:gd name="adj2" fmla="val 46145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spcBef>
                <a:spcPts val="0"/>
              </a:spcBef>
              <a:buNone/>
            </a:pPr>
            <a:r>
              <a:rPr lang="en-US" sz="1400" dirty="0"/>
              <a:t>ECL-GC assign the smallest or the same number of colors as FirstFit &amp; Garppolo on 11 of the 18 graphs </a:t>
            </a:r>
          </a:p>
        </p:txBody>
      </p:sp>
      <p:sp>
        <p:nvSpPr>
          <p:cNvPr id="9" name="Rounded Rectangular Callout 6">
            <a:extLst>
              <a:ext uri="{FF2B5EF4-FFF2-40B4-BE49-F238E27FC236}">
                <a16:creationId xmlns:a16="http://schemas.microsoft.com/office/drawing/2014/main" id="{3791C0B3-C081-424B-8100-4E77BB3C8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2038" y="1431820"/>
            <a:ext cx="2784381" cy="490923"/>
          </a:xfrm>
          <a:prstGeom prst="wedgeRoundRectCallout">
            <a:avLst>
              <a:gd name="adj1" fmla="val 25802"/>
              <a:gd name="adj2" fmla="val 33224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spcBef>
                <a:spcPts val="0"/>
              </a:spcBef>
              <a:buNone/>
            </a:pPr>
            <a:r>
              <a:rPr lang="en-US" sz="1400" dirty="0"/>
              <a:t>ECL-GC assigns only 1 more color on the remaining 7 graphs</a:t>
            </a:r>
          </a:p>
        </p:txBody>
      </p:sp>
    </p:spTree>
    <p:extLst>
      <p:ext uri="{BB962C8B-B14F-4D97-AF65-F5344CB8AC3E}">
        <p14:creationId xmlns:p14="http://schemas.microsoft.com/office/powerpoint/2010/main" val="4005310794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14067-476E-F244-B26B-3DA9BBDF6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547688"/>
            <a:ext cx="8372475" cy="639762"/>
          </a:xfrm>
        </p:spPr>
        <p:txBody>
          <a:bodyPr/>
          <a:lstStyle/>
          <a:p>
            <a:r>
              <a:rPr lang="en-US" dirty="0"/>
              <a:t>Number of Colors (Serial CPU Codes)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49429-5939-EB43-BA65-0D3987FC2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90DBB-C92A-6749-BC4A-6992783A3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47ABE5-8C4D-B245-80FB-E1BE56492E46}"/>
              </a:ext>
            </a:extLst>
          </p:cNvPr>
          <p:cNvSpPr txBox="1"/>
          <p:nvPr/>
        </p:nvSpPr>
        <p:spPr>
          <a:xfrm>
            <a:off x="569396" y="1547327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CE28C0-500D-334B-8CF5-A91375456D69}"/>
              </a:ext>
            </a:extLst>
          </p:cNvPr>
          <p:cNvSpPr txBox="1"/>
          <p:nvPr/>
        </p:nvSpPr>
        <p:spPr>
          <a:xfrm>
            <a:off x="572571" y="1488756"/>
            <a:ext cx="33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85B77CE-235A-3C4F-BAF1-6DDD5024BE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2316991"/>
            <a:ext cx="8321040" cy="3319272"/>
          </a:xfrm>
        </p:spPr>
      </p:pic>
      <p:sp>
        <p:nvSpPr>
          <p:cNvPr id="14" name="Rounded Rectangular Callout 6">
            <a:extLst>
              <a:ext uri="{FF2B5EF4-FFF2-40B4-BE49-F238E27FC236}">
                <a16:creationId xmlns:a16="http://schemas.microsoft.com/office/drawing/2014/main" id="{3CF81A02-1EF2-8645-8313-1AE11F0C5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6541" y="1369206"/>
            <a:ext cx="2373279" cy="694676"/>
          </a:xfrm>
          <a:prstGeom prst="wedgeRoundRectCallout">
            <a:avLst>
              <a:gd name="adj1" fmla="val 42838"/>
              <a:gd name="adj2" fmla="val 251088"/>
              <a:gd name="adj3" fmla="val 16667"/>
            </a:avLst>
          </a:prstGeom>
          <a:solidFill>
            <a:schemeClr val="accent5">
              <a:lumMod val="9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None/>
            </a:pPr>
            <a:r>
              <a:rPr lang="en-US" sz="1400" dirty="0"/>
              <a:t>ECL-GC’s and JP-D1’s coloring quality is almost identical</a:t>
            </a:r>
          </a:p>
        </p:txBody>
      </p:sp>
      <p:sp>
        <p:nvSpPr>
          <p:cNvPr id="10" name="Rounded Rectangular Callout 6">
            <a:extLst>
              <a:ext uri="{FF2B5EF4-FFF2-40B4-BE49-F238E27FC236}">
                <a16:creationId xmlns:a16="http://schemas.microsoft.com/office/drawing/2014/main" id="{6938CBA3-6478-45D7-90F0-D062C5A54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403" y="1337583"/>
            <a:ext cx="2567313" cy="731919"/>
          </a:xfrm>
          <a:prstGeom prst="wedgeRoundRectCallout">
            <a:avLst>
              <a:gd name="adj1" fmla="val 17514"/>
              <a:gd name="adj2" fmla="val 46145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spcBef>
                <a:spcPts val="0"/>
              </a:spcBef>
              <a:buNone/>
            </a:pPr>
            <a:r>
              <a:rPr lang="en-US" sz="1400" dirty="0"/>
              <a:t>ECL-GC assigns the smallest or the same number of colors on all tested inputs</a:t>
            </a:r>
          </a:p>
        </p:txBody>
      </p:sp>
    </p:spTree>
    <p:extLst>
      <p:ext uri="{BB962C8B-B14F-4D97-AF65-F5344CB8AC3E}">
        <p14:creationId xmlns:p14="http://schemas.microsoft.com/office/powerpoint/2010/main" val="1073997232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Titan V Speedup due to Shortcuts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20373A-E9FC-47D8-ACB1-3C8F1085D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8971" y="1303645"/>
            <a:ext cx="3897587" cy="4404148"/>
          </a:xfrm>
          <a:prstGeom prst="rect">
            <a:avLst/>
          </a:prstGeom>
        </p:spPr>
      </p:pic>
      <p:sp>
        <p:nvSpPr>
          <p:cNvPr id="3" name="Rounded Rectangular Callout 6">
            <a:extLst>
              <a:ext uri="{FF2B5EF4-FFF2-40B4-BE49-F238E27FC236}">
                <a16:creationId xmlns:a16="http://schemas.microsoft.com/office/drawing/2014/main" id="{9BCF371F-0C75-4A43-865B-CFCA35329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1346" y="3336327"/>
            <a:ext cx="2373279" cy="483796"/>
          </a:xfrm>
          <a:prstGeom prst="wedgeRoundRectCallout">
            <a:avLst>
              <a:gd name="adj1" fmla="val 6899"/>
              <a:gd name="adj2" fmla="val 398701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Clr>
                <a:schemeClr val="hlink"/>
              </a:buClr>
              <a:buSzPct val="55000"/>
              <a:buNone/>
            </a:pPr>
            <a:r>
              <a:rPr lang="en-US" sz="1400" dirty="0"/>
              <a:t>Shortcut 1 is much more important than Shortcut 2</a:t>
            </a:r>
          </a:p>
        </p:txBody>
      </p:sp>
    </p:spTree>
    <p:extLst>
      <p:ext uri="{BB962C8B-B14F-4D97-AF65-F5344CB8AC3E}">
        <p14:creationId xmlns:p14="http://schemas.microsoft.com/office/powerpoint/2010/main" val="3304270498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Source of Color Assignment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34F383-5E70-462B-A0F2-59BA33921A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52" y="1254252"/>
            <a:ext cx="7882178" cy="4478546"/>
          </a:xfrm>
          <a:prstGeom prst="rect">
            <a:avLst/>
          </a:prstGeom>
        </p:spPr>
      </p:pic>
      <p:sp>
        <p:nvSpPr>
          <p:cNvPr id="9" name="Rounded Rectangular Callout 6">
            <a:extLst>
              <a:ext uri="{FF2B5EF4-FFF2-40B4-BE49-F238E27FC236}">
                <a16:creationId xmlns:a16="http://schemas.microsoft.com/office/drawing/2014/main" id="{0B77CDBC-9C87-4314-8E42-1EDB419CF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312" y="3025384"/>
            <a:ext cx="733980" cy="218762"/>
          </a:xfrm>
          <a:prstGeom prst="wedgeRoundRectCallout">
            <a:avLst>
              <a:gd name="adj1" fmla="val -72830"/>
              <a:gd name="adj2" fmla="val 8828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Clr>
                <a:schemeClr val="hlink"/>
              </a:buClr>
              <a:buSzPct val="55000"/>
              <a:buNone/>
            </a:pPr>
            <a:r>
              <a:rPr lang="en-US" sz="1400" dirty="0"/>
              <a:t>52.6%</a:t>
            </a:r>
          </a:p>
        </p:txBody>
      </p:sp>
      <p:sp>
        <p:nvSpPr>
          <p:cNvPr id="13" name="Rounded Rectangular Callout 6">
            <a:extLst>
              <a:ext uri="{FF2B5EF4-FFF2-40B4-BE49-F238E27FC236}">
                <a16:creationId xmlns:a16="http://schemas.microsoft.com/office/drawing/2014/main" id="{2AF562B7-23AA-4B73-8EF6-6D4F2F2E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0998" y="1836947"/>
            <a:ext cx="733980" cy="218762"/>
          </a:xfrm>
          <a:prstGeom prst="wedgeRoundRectCallout">
            <a:avLst>
              <a:gd name="adj1" fmla="val -73388"/>
              <a:gd name="adj2" fmla="val 12577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Clr>
                <a:schemeClr val="hlink"/>
              </a:buClr>
              <a:buSzPct val="55000"/>
              <a:buNone/>
            </a:pPr>
            <a:r>
              <a:rPr lang="en-US" sz="1400" dirty="0"/>
              <a:t>38.8%</a:t>
            </a:r>
          </a:p>
        </p:txBody>
      </p:sp>
      <p:sp>
        <p:nvSpPr>
          <p:cNvPr id="15" name="Rounded Rectangular Callout 6">
            <a:extLst>
              <a:ext uri="{FF2B5EF4-FFF2-40B4-BE49-F238E27FC236}">
                <a16:creationId xmlns:a16="http://schemas.microsoft.com/office/drawing/2014/main" id="{6703F043-DCE5-4AF5-8EA7-3C1455535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6898" y="3813352"/>
            <a:ext cx="733980" cy="218762"/>
          </a:xfrm>
          <a:prstGeom prst="wedgeRoundRectCallout">
            <a:avLst>
              <a:gd name="adj1" fmla="val -72830"/>
              <a:gd name="adj2" fmla="val 8828"/>
              <a:gd name="adj3" fmla="val 16667"/>
            </a:avLst>
          </a:prstGeom>
          <a:solidFill>
            <a:schemeClr val="accent2">
              <a:lumMod val="60000"/>
              <a:lumOff val="40000"/>
              <a:alpha val="80000"/>
            </a:schemeClr>
          </a:solidFill>
          <a:ln w="9525" algn="ctr">
            <a:noFill/>
            <a:round/>
            <a:headEnd/>
            <a:tailEnd/>
          </a:ln>
        </p:spPr>
        <p:txBody>
          <a:bodyPr tIns="0"/>
          <a:lstStyle/>
          <a:p>
            <a:pPr algn="ctr">
              <a:buClr>
                <a:schemeClr val="hlink"/>
              </a:buClr>
              <a:buSzPct val="55000"/>
              <a:buNone/>
            </a:pPr>
            <a:r>
              <a:rPr lang="en-US" sz="1400" dirty="0"/>
              <a:t>8.6%</a:t>
            </a:r>
          </a:p>
        </p:txBody>
      </p:sp>
    </p:spTree>
    <p:extLst>
      <p:ext uri="{BB962C8B-B14F-4D97-AF65-F5344CB8AC3E}">
        <p14:creationId xmlns:p14="http://schemas.microsoft.com/office/powerpoint/2010/main" val="3109823390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Conclusion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430768" cy="4479925"/>
          </a:xfrm>
        </p:spPr>
        <p:txBody>
          <a:bodyPr/>
          <a:lstStyle/>
          <a:p>
            <a:pPr>
              <a:spcBef>
                <a:spcPts val="300"/>
              </a:spcBef>
            </a:pPr>
            <a:r>
              <a:rPr lang="en-US" dirty="0"/>
              <a:t>New algorithmic optimizations for graph coloring</a:t>
            </a:r>
          </a:p>
          <a:p>
            <a:pPr lvl="1">
              <a:spcBef>
                <a:spcPts val="300"/>
              </a:spcBef>
            </a:pPr>
            <a:r>
              <a:rPr lang="en-US" dirty="0">
                <a:solidFill>
                  <a:srgbClr val="FF0000"/>
                </a:solidFill>
              </a:rPr>
              <a:t>Increases parallelism </a:t>
            </a:r>
            <a:r>
              <a:rPr lang="en-US" dirty="0"/>
              <a:t>by breaking data dependencies</a:t>
            </a:r>
          </a:p>
          <a:p>
            <a:pPr lvl="2">
              <a:spcBef>
                <a:spcPts val="300"/>
              </a:spcBef>
            </a:pPr>
            <a:r>
              <a:rPr lang="en-US" dirty="0"/>
              <a:t>Exceeds intrinsic (LDF) DAG parallelism by 2.5x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These “</a:t>
            </a:r>
            <a:r>
              <a:rPr lang="en-US" dirty="0">
                <a:solidFill>
                  <a:srgbClr val="0070C0"/>
                </a:solidFill>
              </a:rPr>
              <a:t>shortcuts</a:t>
            </a:r>
            <a:r>
              <a:rPr lang="en-US" dirty="0"/>
              <a:t>” guarantee </a:t>
            </a:r>
            <a:r>
              <a:rPr lang="en-US" dirty="0">
                <a:solidFill>
                  <a:srgbClr val="FF0000"/>
                </a:solidFill>
              </a:rPr>
              <a:t>same final coloring</a:t>
            </a:r>
          </a:p>
          <a:p>
            <a:pPr>
              <a:spcBef>
                <a:spcPts val="300"/>
              </a:spcBef>
            </a:pPr>
            <a:r>
              <a:rPr lang="en-US" dirty="0"/>
              <a:t>ECL-GC GPU performance</a:t>
            </a:r>
          </a:p>
          <a:p>
            <a:pPr lvl="1">
              <a:spcBef>
                <a:spcPts val="300"/>
              </a:spcBef>
            </a:pPr>
            <a:r>
              <a:rPr lang="en-US" dirty="0">
                <a:solidFill>
                  <a:srgbClr val="FF0000"/>
                </a:solidFill>
              </a:rPr>
              <a:t>Faster</a:t>
            </a:r>
            <a:r>
              <a:rPr lang="en-US" dirty="0"/>
              <a:t> on average than prior CPU and GPU codes</a:t>
            </a:r>
          </a:p>
          <a:p>
            <a:pPr lvl="2">
              <a:spcBef>
                <a:spcPts val="300"/>
              </a:spcBef>
            </a:pPr>
            <a:r>
              <a:rPr lang="en-US" dirty="0"/>
              <a:t>Especially on high-degree graphs</a:t>
            </a:r>
          </a:p>
          <a:p>
            <a:pPr>
              <a:spcBef>
                <a:spcPts val="300"/>
              </a:spcBef>
            </a:pPr>
            <a:r>
              <a:rPr lang="en-US" dirty="0"/>
              <a:t>Conclusion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ECL-GC can speed up apps that use graph coloring</a:t>
            </a:r>
          </a:p>
          <a:p>
            <a:pPr lvl="1">
              <a:spcBef>
                <a:spcPts val="300"/>
              </a:spcBef>
            </a:pPr>
            <a:r>
              <a:rPr lang="en-US" dirty="0"/>
              <a:t>Look for shortcuts to increase parallelism in other fields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145036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9DD62-071B-4450-ACE2-9D56BB41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3975"/>
            <a:ext cx="8226425" cy="4479925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dirty="0"/>
              <a:t>Acknowledgments</a:t>
            </a:r>
          </a:p>
          <a:p>
            <a:pPr lvl="1">
              <a:spcBef>
                <a:spcPts val="0"/>
              </a:spcBef>
            </a:pPr>
            <a:r>
              <a:rPr lang="en-US" dirty="0"/>
              <a:t>NSF, NVIDIA</a:t>
            </a:r>
          </a:p>
          <a:p>
            <a:pPr lvl="3"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Contact information</a:t>
            </a:r>
          </a:p>
          <a:p>
            <a:pPr lvl="1">
              <a:spcBef>
                <a:spcPts val="0"/>
              </a:spcBef>
            </a:pPr>
            <a:r>
              <a:rPr lang="en-US" dirty="0"/>
              <a:t>burtscher@txstate.edu</a:t>
            </a:r>
          </a:p>
          <a:p>
            <a:pPr lvl="3">
              <a:spcBef>
                <a:spcPts val="0"/>
              </a:spcBef>
            </a:pPr>
            <a:endParaRPr lang="en-US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</a:pPr>
            <a:r>
              <a:rPr lang="en-US" dirty="0"/>
              <a:t>Web page (link to paper and source code)</a:t>
            </a:r>
          </a:p>
          <a:p>
            <a:pPr lvl="1">
              <a:spcBef>
                <a:spcPts val="0"/>
              </a:spcBef>
            </a:pPr>
            <a:r>
              <a:rPr lang="en-US" dirty="0">
                <a:solidFill>
                  <a:srgbClr val="0070C0"/>
                </a:solidFill>
              </a:rPr>
              <a:t>http://cs.txstate.edu/~burtscher/research/ECL-GC/ </a:t>
            </a:r>
          </a:p>
          <a:p>
            <a:pPr lvl="3">
              <a:spcBef>
                <a:spcPts val="0"/>
              </a:spcBef>
            </a:pPr>
            <a:endParaRPr lang="en-US" dirty="0">
              <a:solidFill>
                <a:srgbClr val="0070C0"/>
              </a:solidFill>
            </a:endParaRPr>
          </a:p>
          <a:p>
            <a:pPr marL="57150" indent="0" algn="ctr">
              <a:spcBef>
                <a:spcPts val="0"/>
              </a:spcBef>
              <a:buNone/>
            </a:pPr>
            <a:r>
              <a:rPr 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ACM Symposium on Principles and Practice of Parallel Programming (</a:t>
            </a:r>
            <a:r>
              <a:rPr lang="en-US" sz="26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PPoPP</a:t>
            </a:r>
            <a:r>
              <a:rPr lang="en-US" sz="2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), pp. 262-275. February 2020.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E138EF-444D-4FA0-A21F-0434F0BDC3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658" y="1649149"/>
            <a:ext cx="2753084" cy="13441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79A372-E5C5-4807-AB72-537EF1D38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E45DD-1BB0-4269-9657-68369AAC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High-Speed Graph Coloring on GPUs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4C6AC-8F9C-4796-8E4D-6B76F8E96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8C3A0-0B0F-41AE-8690-F6AFB346F1B1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13D0180-E276-411D-B2E9-AD266175F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152" y="1788694"/>
            <a:ext cx="1710688" cy="1065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909161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6|10.4|8.2|20.8|10.6|4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5|4.3|5.2|11.5|5.9|11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6.1|29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3|3|22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7|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8|7.7|4.7|6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9|7.2|15.2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742950" marR="0" indent="-28575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55000"/>
          <a:buFont typeface="Wingdings" pitchFamily="2" charset="2"/>
          <a:buChar char="n"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742950" marR="0" indent="-28575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55000"/>
          <a:buFont typeface="Wingdings" pitchFamily="2" charset="2"/>
          <a:buChar char="n"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31791</TotalTime>
  <Words>2439</Words>
  <Application>Microsoft Office PowerPoint</Application>
  <PresentationFormat>On-screen Show (4:3)</PresentationFormat>
  <Paragraphs>525</Paragraphs>
  <Slides>53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Arial</vt:lpstr>
      <vt:lpstr>Calibri</vt:lpstr>
      <vt:lpstr>Cambria Math</vt:lpstr>
      <vt:lpstr>Tahoma</vt:lpstr>
      <vt:lpstr>Wingdings</vt:lpstr>
      <vt:lpstr>Blends</vt:lpstr>
      <vt:lpstr>High-Speed Graph Coloring on GPUs</vt:lpstr>
      <vt:lpstr>Graph Coloring </vt:lpstr>
      <vt:lpstr>Highlights</vt:lpstr>
      <vt:lpstr>Background</vt:lpstr>
      <vt:lpstr>PowerPoint Presentation</vt:lpstr>
      <vt:lpstr>Greedy Algorithm</vt:lpstr>
      <vt:lpstr>Priority Heuristics</vt:lpstr>
      <vt:lpstr>LDF Example: Input Graph</vt:lpstr>
      <vt:lpstr>LDF Example: Imposed Priority DAG</vt:lpstr>
      <vt:lpstr>LDF Example: Resulting Coloring</vt:lpstr>
      <vt:lpstr>Jones-Plassmann Parallel Algorithm</vt:lpstr>
      <vt:lpstr>Possible Colors</vt:lpstr>
      <vt:lpstr>Possible Colors</vt:lpstr>
      <vt:lpstr>Possible Colors</vt:lpstr>
      <vt:lpstr>Possible Colors</vt:lpstr>
      <vt:lpstr>Possible Colors</vt:lpstr>
      <vt:lpstr>Possible Colors</vt:lpstr>
      <vt:lpstr>Possible Colors</vt:lpstr>
      <vt:lpstr>Jones-Plassmann Algorithm</vt:lpstr>
      <vt:lpstr>Jones-Plassmann Example</vt:lpstr>
      <vt:lpstr>Jones-Plassmann Example</vt:lpstr>
      <vt:lpstr>Jones-Plassmann Example</vt:lpstr>
      <vt:lpstr>Jones-Plassmann Example</vt:lpstr>
      <vt:lpstr>Jones-Plassmann Example</vt:lpstr>
      <vt:lpstr>PowerPoint Presentation</vt:lpstr>
      <vt:lpstr>ECL-GC</vt:lpstr>
      <vt:lpstr>ECL-GC (cont.)</vt:lpstr>
      <vt:lpstr>Shortcut 1</vt:lpstr>
      <vt:lpstr>Shortcut 2</vt:lpstr>
      <vt:lpstr>PowerPoint Presentation</vt:lpstr>
      <vt:lpstr>ECL-GC Algorithm</vt:lpstr>
      <vt:lpstr>ECL-GC Algorithm</vt:lpstr>
      <vt:lpstr>ECL-GC Algorithm</vt:lpstr>
      <vt:lpstr>ECL-GC Algorithm</vt:lpstr>
      <vt:lpstr>ECL-GC Algorithm</vt:lpstr>
      <vt:lpstr>PowerPoint Presentation</vt:lpstr>
      <vt:lpstr>Efficient Shortcut Implementation</vt:lpstr>
      <vt:lpstr>PowerPoint Presentation</vt:lpstr>
      <vt:lpstr>Methodology: 2 Devices and 11 Codes</vt:lpstr>
      <vt:lpstr>Methodology: 18 Input Graphs</vt:lpstr>
      <vt:lpstr>Amount of Parallelism on Kron Graph</vt:lpstr>
      <vt:lpstr>Amount of Parallelism on UK Graph</vt:lpstr>
      <vt:lpstr>Available Parallelism</vt:lpstr>
      <vt:lpstr>Throughput on Titan V (GPU Codes)</vt:lpstr>
      <vt:lpstr>Throughput (Parallel CPU Codes)</vt:lpstr>
      <vt:lpstr>Throughput (Serial CPU Codes)</vt:lpstr>
      <vt:lpstr>Number of Colors (GPU Codes)</vt:lpstr>
      <vt:lpstr>Number of Colors (Parallel CPU Codes)</vt:lpstr>
      <vt:lpstr>Number of Colors (Serial CPU Codes)</vt:lpstr>
      <vt:lpstr>Titan V Speedup due to Shortcuts</vt:lpstr>
      <vt:lpstr>Source of Color Assignment</vt:lpstr>
      <vt:lpstr>Summary and Conclusion</vt:lpstr>
      <vt:lpstr>Thank you!</vt:lpstr>
    </vt:vector>
  </TitlesOfParts>
  <Company>Cornell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Data-Centric Computer Systems</dc:title>
  <dc:creator>Martin Burtscher</dc:creator>
  <cp:lastModifiedBy>Martin Burtscher</cp:lastModifiedBy>
  <cp:revision>2118</cp:revision>
  <cp:lastPrinted>1601-01-01T00:00:00Z</cp:lastPrinted>
  <dcterms:created xsi:type="dcterms:W3CDTF">2004-05-06T20:27:51Z</dcterms:created>
  <dcterms:modified xsi:type="dcterms:W3CDTF">2021-03-30T13:05:42Z</dcterms:modified>
</cp:coreProperties>
</file>